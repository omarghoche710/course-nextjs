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0F0B5A-4276-4E5F-87C6-8880BD4681FE}"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A48AE5-05D0-4115-9806-C8C3D8FEA4CF}" type="slidenum">
              <a:rPr lang="en-US" smtClean="0"/>
              <a:t>‹#›</a:t>
            </a:fld>
            <a:endParaRPr lang="en-US"/>
          </a:p>
        </p:txBody>
      </p:sp>
    </p:spTree>
    <p:extLst>
      <p:ext uri="{BB962C8B-B14F-4D97-AF65-F5344CB8AC3E}">
        <p14:creationId xmlns:p14="http://schemas.microsoft.com/office/powerpoint/2010/main" val="2453093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BA48AE5-05D0-4115-9806-C8C3D8FEA4CF}" type="slidenum">
              <a:rPr lang="en-US" smtClean="0"/>
              <a:t>1</a:t>
            </a:fld>
            <a:endParaRPr lang="en-US"/>
          </a:p>
        </p:txBody>
      </p:sp>
    </p:spTree>
    <p:extLst>
      <p:ext uri="{BB962C8B-B14F-4D97-AF65-F5344CB8AC3E}">
        <p14:creationId xmlns:p14="http://schemas.microsoft.com/office/powerpoint/2010/main" val="3375159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60D933E-DAC2-47CF-A169-F604158307CB}" type="datetime1">
              <a:rPr lang="en-US" smtClean="0"/>
              <a:t>4/14/2026</a:t>
            </a:fld>
            <a:endParaRPr lang="en-US"/>
          </a:p>
        </p:txBody>
      </p:sp>
      <p:sp>
        <p:nvSpPr>
          <p:cNvPr id="5" name="Footer Placeholder 4"/>
          <p:cNvSpPr>
            <a:spLocks noGrp="1"/>
          </p:cNvSpPr>
          <p:nvPr>
            <p:ph type="ftr" sz="quarter" idx="11"/>
          </p:nvPr>
        </p:nvSpPr>
        <p:spPr/>
        <p:txBody>
          <a:bodyPr/>
          <a:lstStyle/>
          <a:p>
            <a:r>
              <a:rPr lang="en-US" smtClean="0"/>
              <a:t>TechTalks</a:t>
            </a:r>
            <a:endParaRPr lang="en-US"/>
          </a:p>
        </p:txBody>
      </p:sp>
      <p:sp>
        <p:nvSpPr>
          <p:cNvPr id="6" name="Slide Number Placeholder 5"/>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629529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30EB502-274A-4D90-A1D3-222AA1E0ACB1}" type="datetime1">
              <a:rPr lang="en-US" smtClean="0"/>
              <a:t>4/14/2026</a:t>
            </a:fld>
            <a:endParaRPr lang="en-US"/>
          </a:p>
        </p:txBody>
      </p:sp>
      <p:sp>
        <p:nvSpPr>
          <p:cNvPr id="5" name="Footer Placeholder 4"/>
          <p:cNvSpPr>
            <a:spLocks noGrp="1"/>
          </p:cNvSpPr>
          <p:nvPr>
            <p:ph type="ftr" sz="quarter" idx="11"/>
          </p:nvPr>
        </p:nvSpPr>
        <p:spPr/>
        <p:txBody>
          <a:bodyPr/>
          <a:lstStyle/>
          <a:p>
            <a:r>
              <a:rPr lang="en-US" smtClean="0"/>
              <a:t>TechTalks</a:t>
            </a:r>
            <a:endParaRPr lang="en-US"/>
          </a:p>
        </p:txBody>
      </p:sp>
      <p:sp>
        <p:nvSpPr>
          <p:cNvPr id="6" name="Slide Number Placeholder 5"/>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2357755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D10565D-A206-4F92-896D-3BB0AB5F9A90}" type="datetime1">
              <a:rPr lang="en-US" smtClean="0"/>
              <a:t>4/14/2026</a:t>
            </a:fld>
            <a:endParaRPr lang="en-US"/>
          </a:p>
        </p:txBody>
      </p:sp>
      <p:sp>
        <p:nvSpPr>
          <p:cNvPr id="5" name="Footer Placeholder 4"/>
          <p:cNvSpPr>
            <a:spLocks noGrp="1"/>
          </p:cNvSpPr>
          <p:nvPr>
            <p:ph type="ftr" sz="quarter" idx="11"/>
          </p:nvPr>
        </p:nvSpPr>
        <p:spPr/>
        <p:txBody>
          <a:bodyPr/>
          <a:lstStyle/>
          <a:p>
            <a:r>
              <a:rPr lang="en-US" smtClean="0"/>
              <a:t>TechTalks</a:t>
            </a:r>
            <a:endParaRPr lang="en-US"/>
          </a:p>
        </p:txBody>
      </p:sp>
      <p:sp>
        <p:nvSpPr>
          <p:cNvPr id="6" name="Slide Number Placeholder 5"/>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1644900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0C9A8BD-9A91-4050-BD45-B4E5CB35A3EE}" type="datetime1">
              <a:rPr lang="en-US" smtClean="0"/>
              <a:t>4/14/2026</a:t>
            </a:fld>
            <a:endParaRPr lang="en-US"/>
          </a:p>
        </p:txBody>
      </p:sp>
      <p:sp>
        <p:nvSpPr>
          <p:cNvPr id="6" name="Footer Placeholder 5"/>
          <p:cNvSpPr>
            <a:spLocks noGrp="1"/>
          </p:cNvSpPr>
          <p:nvPr>
            <p:ph type="ftr" sz="quarter" idx="11"/>
          </p:nvPr>
        </p:nvSpPr>
        <p:spPr/>
        <p:txBody>
          <a:bodyPr/>
          <a:lstStyle/>
          <a:p>
            <a:r>
              <a:rPr lang="en-US" smtClean="0"/>
              <a:t>TechTalks</a:t>
            </a:r>
            <a:endParaRPr lang="en-US"/>
          </a:p>
        </p:txBody>
      </p:sp>
      <p:sp>
        <p:nvSpPr>
          <p:cNvPr id="7" name="Slide Number Placeholder 6"/>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3819314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946ADF1-4867-490C-8B51-CEB23B0367AF}" type="datetime1">
              <a:rPr lang="en-US" smtClean="0"/>
              <a:t>4/14/2026</a:t>
            </a:fld>
            <a:endParaRPr lang="en-US"/>
          </a:p>
        </p:txBody>
      </p:sp>
      <p:sp>
        <p:nvSpPr>
          <p:cNvPr id="8" name="Footer Placeholder 7"/>
          <p:cNvSpPr>
            <a:spLocks noGrp="1"/>
          </p:cNvSpPr>
          <p:nvPr>
            <p:ph type="ftr" sz="quarter" idx="11"/>
          </p:nvPr>
        </p:nvSpPr>
        <p:spPr/>
        <p:txBody>
          <a:bodyPr/>
          <a:lstStyle/>
          <a:p>
            <a:r>
              <a:rPr lang="en-US" smtClean="0"/>
              <a:t>TechTalks</a:t>
            </a:r>
            <a:endParaRPr lang="en-US"/>
          </a:p>
        </p:txBody>
      </p:sp>
      <p:sp>
        <p:nvSpPr>
          <p:cNvPr id="9" name="Slide Number Placeholder 8"/>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109443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4E76FD2-FAFF-4A15-A559-12C46C0CAC9E}" type="datetime1">
              <a:rPr lang="en-US" smtClean="0"/>
              <a:t>4/14/2026</a:t>
            </a:fld>
            <a:endParaRPr lang="en-US"/>
          </a:p>
        </p:txBody>
      </p:sp>
      <p:sp>
        <p:nvSpPr>
          <p:cNvPr id="4" name="Footer Placeholder 3"/>
          <p:cNvSpPr>
            <a:spLocks noGrp="1"/>
          </p:cNvSpPr>
          <p:nvPr>
            <p:ph type="ftr" sz="quarter" idx="11"/>
          </p:nvPr>
        </p:nvSpPr>
        <p:spPr/>
        <p:txBody>
          <a:bodyPr/>
          <a:lstStyle/>
          <a:p>
            <a:r>
              <a:rPr lang="en-US" smtClean="0"/>
              <a:t>TechTalks</a:t>
            </a:r>
            <a:endParaRPr lang="en-US"/>
          </a:p>
        </p:txBody>
      </p:sp>
      <p:sp>
        <p:nvSpPr>
          <p:cNvPr id="5" name="Slide Number Placeholder 4"/>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1899126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5395A8-A069-4E41-897F-18B3893E064D}" type="datetime1">
              <a:rPr lang="en-US" smtClean="0"/>
              <a:t>4/14/2026</a:t>
            </a:fld>
            <a:endParaRPr lang="en-US"/>
          </a:p>
        </p:txBody>
      </p:sp>
      <p:sp>
        <p:nvSpPr>
          <p:cNvPr id="3" name="Footer Placeholder 2"/>
          <p:cNvSpPr>
            <a:spLocks noGrp="1"/>
          </p:cNvSpPr>
          <p:nvPr>
            <p:ph type="ftr" sz="quarter" idx="11"/>
          </p:nvPr>
        </p:nvSpPr>
        <p:spPr/>
        <p:txBody>
          <a:bodyPr/>
          <a:lstStyle/>
          <a:p>
            <a:r>
              <a:rPr lang="en-US" smtClean="0"/>
              <a:t>TechTalks</a:t>
            </a:r>
            <a:endParaRPr lang="en-US"/>
          </a:p>
        </p:txBody>
      </p:sp>
      <p:sp>
        <p:nvSpPr>
          <p:cNvPr id="4" name="Slide Number Placeholder 3"/>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302346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EDB0A6-3523-4EDD-B595-CF11073DB429}" type="datetime1">
              <a:rPr lang="en-US" smtClean="0"/>
              <a:t>4/14/2026</a:t>
            </a:fld>
            <a:endParaRPr lang="en-US"/>
          </a:p>
        </p:txBody>
      </p:sp>
      <p:sp>
        <p:nvSpPr>
          <p:cNvPr id="6" name="Footer Placeholder 5"/>
          <p:cNvSpPr>
            <a:spLocks noGrp="1"/>
          </p:cNvSpPr>
          <p:nvPr>
            <p:ph type="ftr" sz="quarter" idx="11"/>
          </p:nvPr>
        </p:nvSpPr>
        <p:spPr/>
        <p:txBody>
          <a:bodyPr/>
          <a:lstStyle/>
          <a:p>
            <a:r>
              <a:rPr lang="en-US" smtClean="0"/>
              <a:t>TechTalks</a:t>
            </a:r>
            <a:endParaRPr lang="en-US"/>
          </a:p>
        </p:txBody>
      </p:sp>
      <p:sp>
        <p:nvSpPr>
          <p:cNvPr id="7" name="Slide Number Placeholder 6"/>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155408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8C8E8D-7536-4538-98B5-B09931E9FDB4}" type="datetime1">
              <a:rPr lang="en-US" smtClean="0"/>
              <a:t>4/14/2026</a:t>
            </a:fld>
            <a:endParaRPr lang="en-US"/>
          </a:p>
        </p:txBody>
      </p:sp>
      <p:sp>
        <p:nvSpPr>
          <p:cNvPr id="6" name="Footer Placeholder 5"/>
          <p:cNvSpPr>
            <a:spLocks noGrp="1"/>
          </p:cNvSpPr>
          <p:nvPr>
            <p:ph type="ftr" sz="quarter" idx="11"/>
          </p:nvPr>
        </p:nvSpPr>
        <p:spPr/>
        <p:txBody>
          <a:bodyPr/>
          <a:lstStyle/>
          <a:p>
            <a:r>
              <a:rPr lang="en-US" smtClean="0"/>
              <a:t>TechTalks</a:t>
            </a:r>
            <a:endParaRPr lang="en-US"/>
          </a:p>
        </p:txBody>
      </p:sp>
      <p:sp>
        <p:nvSpPr>
          <p:cNvPr id="7" name="Slide Number Placeholder 6"/>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240306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B2DBAF4-83DA-4F4C-A899-2A01C1814D4B}" type="datetime1">
              <a:rPr lang="en-US" smtClean="0"/>
              <a:t>4/14/2026</a:t>
            </a:fld>
            <a:endParaRPr lang="en-US"/>
          </a:p>
        </p:txBody>
      </p:sp>
      <p:sp>
        <p:nvSpPr>
          <p:cNvPr id="5" name="Footer Placeholder 4"/>
          <p:cNvSpPr>
            <a:spLocks noGrp="1"/>
          </p:cNvSpPr>
          <p:nvPr>
            <p:ph type="ftr" sz="quarter" idx="11"/>
          </p:nvPr>
        </p:nvSpPr>
        <p:spPr/>
        <p:txBody>
          <a:bodyPr/>
          <a:lstStyle/>
          <a:p>
            <a:r>
              <a:rPr lang="en-US" smtClean="0"/>
              <a:t>TechTalks</a:t>
            </a:r>
            <a:endParaRPr lang="en-US"/>
          </a:p>
        </p:txBody>
      </p:sp>
      <p:sp>
        <p:nvSpPr>
          <p:cNvPr id="6" name="Slide Number Placeholder 5"/>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1775890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16A07A3-D328-4D3C-8A20-20656E5BBD3A}" type="datetime1">
              <a:rPr lang="en-US" smtClean="0"/>
              <a:t>4/14/2026</a:t>
            </a:fld>
            <a:endParaRPr lang="en-US"/>
          </a:p>
        </p:txBody>
      </p:sp>
      <p:sp>
        <p:nvSpPr>
          <p:cNvPr id="5" name="Footer Placeholder 4"/>
          <p:cNvSpPr>
            <a:spLocks noGrp="1"/>
          </p:cNvSpPr>
          <p:nvPr>
            <p:ph type="ftr" sz="quarter" idx="11"/>
          </p:nvPr>
        </p:nvSpPr>
        <p:spPr/>
        <p:txBody>
          <a:bodyPr/>
          <a:lstStyle/>
          <a:p>
            <a:r>
              <a:rPr lang="en-US" smtClean="0"/>
              <a:t>TechTalks</a:t>
            </a:r>
            <a:endParaRPr lang="en-US"/>
          </a:p>
        </p:txBody>
      </p:sp>
      <p:sp>
        <p:nvSpPr>
          <p:cNvPr id="6" name="Slide Number Placeholder 5"/>
          <p:cNvSpPr>
            <a:spLocks noGrp="1"/>
          </p:cNvSpPr>
          <p:nvPr>
            <p:ph type="sldNum" sz="quarter" idx="12"/>
          </p:nvPr>
        </p:nvSpPr>
        <p:spPr/>
        <p:txBody>
          <a:bodyPr/>
          <a:lstStyle/>
          <a:p>
            <a:fld id="{06AF6E43-5A56-4D6E-8535-A41B8C890BF9}" type="slidenum">
              <a:rPr lang="en-US" smtClean="0"/>
              <a:t>‹#›</a:t>
            </a:fld>
            <a:endParaRPr lang="en-US"/>
          </a:p>
        </p:txBody>
      </p:sp>
    </p:spTree>
    <p:extLst>
      <p:ext uri="{BB962C8B-B14F-4D97-AF65-F5344CB8AC3E}">
        <p14:creationId xmlns:p14="http://schemas.microsoft.com/office/powerpoint/2010/main" val="3550134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6E6B2-689D-410B-97CD-705C1D147934}" type="datetime1">
              <a:rPr lang="en-US" smtClean="0"/>
              <a:t>4/14/2026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TechTalks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AF6E43-5A56-4D6E-8535-A41B8C890BF9}" type="slidenum">
              <a:rPr lang="en-US" smtClean="0"/>
              <a:t>‹#›</a:t>
            </a:fld>
            <a:endParaRPr lang="en-US"/>
          </a:p>
        </p:txBody>
      </p:sp>
    </p:spTree>
    <p:extLst>
      <p:ext uri="{BB962C8B-B14F-4D97-AF65-F5344CB8AC3E}">
        <p14:creationId xmlns:p14="http://schemas.microsoft.com/office/powerpoint/2010/main" val="15446505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What is </a:t>
            </a:r>
            <a:r>
              <a:rPr lang="en-US" b="1" dirty="0" smtClean="0"/>
              <a:t>Authentication</a:t>
            </a:r>
            <a:endParaRPr lang="en-US" dirty="0"/>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3673491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Authentication and authorization are two essential concepts in web </a:t>
            </a:r>
            <a:r>
              <a:rPr lang="en-US" dirty="0" smtClean="0">
                <a:latin typeface="Arial" panose="020B0604020202020204" pitchFamily="34" charset="0"/>
                <a:cs typeface="Arial" panose="020B0604020202020204" pitchFamily="34" charset="0"/>
              </a:rPr>
              <a:t>security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sz="half" idx="1"/>
          </p:nvPr>
        </p:nvSpPr>
        <p:spPr>
          <a:xfrm>
            <a:off x="838200" y="2114383"/>
            <a:ext cx="5181600" cy="4351338"/>
          </a:xfrm>
        </p:spPr>
        <p:txBody>
          <a:bodyPr/>
          <a:lstStyle/>
          <a:p>
            <a:r>
              <a:rPr lang="en-US" b="1" dirty="0"/>
              <a:t>Authentication</a:t>
            </a:r>
            <a:r>
              <a:rPr lang="en-US" dirty="0"/>
              <a:t> is the process of verifying the identity of a user. It ensures that the person or entity accessing the system is who they claim to be.</a:t>
            </a:r>
            <a:endParaRPr lang="en-US" dirty="0"/>
          </a:p>
        </p:txBody>
      </p:sp>
      <p:sp>
        <p:nvSpPr>
          <p:cNvPr id="4" name="Content Placeholder 3"/>
          <p:cNvSpPr>
            <a:spLocks noGrp="1"/>
          </p:cNvSpPr>
          <p:nvPr>
            <p:ph sz="half" idx="2"/>
          </p:nvPr>
        </p:nvSpPr>
        <p:spPr>
          <a:xfrm>
            <a:off x="6172200" y="2114383"/>
            <a:ext cx="5181600" cy="4351338"/>
          </a:xfrm>
        </p:spPr>
        <p:txBody>
          <a:bodyPr/>
          <a:lstStyle/>
          <a:p>
            <a:r>
              <a:rPr lang="en-US" b="1" dirty="0"/>
              <a:t>Authorization</a:t>
            </a:r>
            <a:r>
              <a:rPr lang="en-US" dirty="0"/>
              <a:t>, on the other hand, determines what actions a user is allowed to perform within the system after they've been authenticated. It defines the permissions and access levels granted to users based on their identity and role.</a:t>
            </a:r>
            <a:endParaRPr lang="en-US" dirty="0"/>
          </a:p>
        </p:txBody>
      </p:sp>
      <p:sp>
        <p:nvSpPr>
          <p:cNvPr id="5" name="Footer Placeholder 4"/>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3116286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Why do we need authentication?</a:t>
            </a:r>
          </a:p>
        </p:txBody>
      </p:sp>
      <p:sp>
        <p:nvSpPr>
          <p:cNvPr id="3" name="Content Placeholder 2"/>
          <p:cNvSpPr>
            <a:spLocks noGrp="1"/>
          </p:cNvSpPr>
          <p:nvPr>
            <p:ph idx="1"/>
          </p:nvPr>
        </p:nvSpPr>
        <p:spPr/>
        <p:txBody>
          <a:bodyPr/>
          <a:lstStyle/>
          <a:p>
            <a:pPr marL="0" indent="0">
              <a:buNone/>
            </a:pPr>
            <a:r>
              <a:rPr lang="en-US" dirty="0"/>
              <a:t>It is crucial for protecting sensitive information and ensuring that only authorized users can access it. It's the first line of defense against unauthorized access and data breaches.</a:t>
            </a:r>
          </a:p>
          <a:p>
            <a:pPr marL="0" indent="0">
              <a:buNone/>
            </a:pPr>
            <a:r>
              <a:rPr lang="en-US" dirty="0"/>
              <a:t>Without </a:t>
            </a:r>
            <a:r>
              <a:rPr lang="en-US" dirty="0">
                <a:solidFill>
                  <a:srgbClr val="00B050"/>
                </a:solidFill>
              </a:rPr>
              <a:t>proper authentication</a:t>
            </a:r>
            <a:r>
              <a:rPr lang="en-US" dirty="0"/>
              <a:t>, anyone could access your system and potentially steal or manipulate your data. This could lead to financial loss, reputational damage, and legal consequences.</a:t>
            </a:r>
          </a:p>
          <a:p>
            <a:pPr marL="0" indent="0">
              <a:buNone/>
            </a:pPr>
            <a:endParaRPr lang="en-US" dirty="0"/>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4045478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Types of Authentication</a:t>
            </a:r>
          </a:p>
        </p:txBody>
      </p:sp>
      <p:sp>
        <p:nvSpPr>
          <p:cNvPr id="3" name="Content Placeholder 2"/>
          <p:cNvSpPr>
            <a:spLocks noGrp="1"/>
          </p:cNvSpPr>
          <p:nvPr>
            <p:ph idx="1"/>
          </p:nvPr>
        </p:nvSpPr>
        <p:spPr/>
        <p:txBody>
          <a:bodyPr/>
          <a:lstStyle/>
          <a:p>
            <a:pPr marL="0" indent="0">
              <a:buNone/>
            </a:pPr>
            <a:r>
              <a:rPr lang="en-US" dirty="0"/>
              <a:t>There are various ways to implement authentication and authorization on the web</a:t>
            </a:r>
            <a:r>
              <a:rPr lang="en-US" dirty="0" smtClean="0"/>
              <a:t>:</a:t>
            </a:r>
          </a:p>
          <a:p>
            <a:r>
              <a:rPr lang="en-US" sz="2000" b="1" dirty="0">
                <a:solidFill>
                  <a:srgbClr val="00B050"/>
                </a:solidFill>
              </a:rPr>
              <a:t>Session-based</a:t>
            </a:r>
          </a:p>
          <a:p>
            <a:r>
              <a:rPr lang="en-US" sz="2000" b="1" dirty="0">
                <a:solidFill>
                  <a:srgbClr val="00B050"/>
                </a:solidFill>
              </a:rPr>
              <a:t>Token-based (JWT)</a:t>
            </a:r>
          </a:p>
          <a:p>
            <a:r>
              <a:rPr lang="en-US" sz="2000" b="1" dirty="0">
                <a:solidFill>
                  <a:srgbClr val="00B050"/>
                </a:solidFill>
              </a:rPr>
              <a:t>OAuth</a:t>
            </a:r>
          </a:p>
          <a:p>
            <a:r>
              <a:rPr lang="en-US" sz="2000" b="1" dirty="0">
                <a:solidFill>
                  <a:srgbClr val="00B050"/>
                </a:solidFill>
              </a:rPr>
              <a:t>Basic authentication</a:t>
            </a:r>
          </a:p>
          <a:p>
            <a:pPr marL="0" indent="0">
              <a:buNone/>
            </a:pPr>
            <a:endParaRPr lang="en-US" dirty="0"/>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3707169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Arial" panose="020B0604020202020204" pitchFamily="34" charset="0"/>
                <a:cs typeface="Arial" panose="020B0604020202020204" pitchFamily="34" charset="0"/>
              </a:rPr>
              <a:t>Session-based</a:t>
            </a:r>
          </a:p>
        </p:txBody>
      </p:sp>
      <p:sp>
        <p:nvSpPr>
          <p:cNvPr id="3" name="Content Placeholder 2"/>
          <p:cNvSpPr>
            <a:spLocks noGrp="1"/>
          </p:cNvSpPr>
          <p:nvPr>
            <p:ph idx="1"/>
          </p:nvPr>
        </p:nvSpPr>
        <p:spPr/>
        <p:txBody>
          <a:bodyPr/>
          <a:lstStyle/>
          <a:p>
            <a:pPr marL="0" indent="0">
              <a:buNone/>
            </a:pPr>
            <a:r>
              <a:rPr lang="en-US" dirty="0"/>
              <a:t>With session-based authentication, a session is created on the server for each user after they log in. The server then sends a unique session identifier (usually stored as a </a:t>
            </a:r>
            <a:r>
              <a:rPr lang="en-US" b="1" dirty="0">
                <a:solidFill>
                  <a:schemeClr val="accent6">
                    <a:lumMod val="75000"/>
                  </a:schemeClr>
                </a:solidFill>
              </a:rPr>
              <a:t>cookie</a:t>
            </a:r>
            <a:r>
              <a:rPr lang="en-US" dirty="0"/>
              <a:t>) to the client, which is used for subsequent requests to authenticate the user</a:t>
            </a:r>
          </a:p>
          <a:p>
            <a:pPr marL="0" indent="0">
              <a:buNone/>
            </a:pPr>
            <a:r>
              <a:rPr lang="en-US" dirty="0"/>
              <a:t/>
            </a:r>
            <a:br>
              <a:rPr lang="en-US" dirty="0"/>
            </a:br>
            <a:endParaRPr lang="en-US" dirty="0"/>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2483418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What's a cookie?</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None/>
            </a:pPr>
            <a:r>
              <a:rPr lang="en-US" dirty="0"/>
              <a:t>A </a:t>
            </a:r>
            <a:r>
              <a:rPr lang="en-US" b="1" dirty="0">
                <a:solidFill>
                  <a:schemeClr val="accent6">
                    <a:lumMod val="75000"/>
                  </a:schemeClr>
                </a:solidFill>
              </a:rPr>
              <a:t>cookie</a:t>
            </a:r>
            <a:r>
              <a:rPr lang="en-US" dirty="0"/>
              <a:t> is a small piece of data that a web server sends to a user's web browser. The browser then stores this data and sends it back with every subsequent request to the same server. Cookies are commonly used for various purposes, including session management, tracking user preferences, and personalizing user experiences.</a:t>
            </a:r>
          </a:p>
          <a:p>
            <a:pPr marL="0" indent="0">
              <a:buNone/>
            </a:pPr>
            <a:r>
              <a:rPr lang="en-US" dirty="0"/>
              <a:t>You can think of cookies as a way for websites to remember users and their preferences across different sessions.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48060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Workflow</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When a user logs in, the server generates a unique session ID and stores session data (like user ID, expiration time, etc.) on the server side.</a:t>
            </a:r>
          </a:p>
          <a:p>
            <a:r>
              <a:rPr lang="en-US" dirty="0"/>
              <a:t>The server sets a cookie in the response containing the session ID.</a:t>
            </a:r>
          </a:p>
          <a:p>
            <a:r>
              <a:rPr lang="en-US" dirty="0"/>
              <a:t>For subsequent requests, the client sends the session ID along with the request.</a:t>
            </a:r>
          </a:p>
          <a:p>
            <a:r>
              <a:rPr lang="en-US" dirty="0"/>
              <a:t>The server verifies the session ID against the stored session data to authenticate the user.</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4007465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Pros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Secure: Session data is stored on the server, reducing the risk of token theft.</a:t>
            </a:r>
          </a:p>
          <a:p>
            <a:r>
              <a:rPr lang="en-US" dirty="0"/>
              <a:t>Easy to implement: Many web frameworks provide built-in support for session management.</a:t>
            </a:r>
          </a:p>
          <a:p>
            <a:r>
              <a:rPr lang="en-US" dirty="0"/>
              <a:t>Automatic expiration: Sessions can be set to expire after a certain period, enhancing security.</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239704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Cons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Scalability issues: Storing session data on the server can lead to scalability challenges, especially in distributed systems.</a:t>
            </a:r>
          </a:p>
          <a:p>
            <a:r>
              <a:rPr lang="en-US" dirty="0"/>
              <a:t>Server-side storage: Requires server resources to manage session data, increasing server load.</a:t>
            </a:r>
          </a:p>
          <a:p>
            <a:r>
              <a:rPr lang="en-US" dirty="0"/>
              <a:t>Vulnerable to CSRF attacks: Session identifiers stored in cookies can be susceptible to CSRF attacks if not properly secured.</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893792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Arial" panose="020B0604020202020204" pitchFamily="34" charset="0"/>
                <a:cs typeface="Arial" panose="020B0604020202020204" pitchFamily="34" charset="0"/>
              </a:rPr>
              <a:t>Token-based (JWT)</a:t>
            </a:r>
            <a:endParaRPr lang="en-US" b="1" dirty="0">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None/>
            </a:pPr>
            <a:r>
              <a:rPr lang="en-US" dirty="0"/>
              <a:t>With token-based authentication, a token containing user information is generated upon successful login and sent to the client. This token is then included in subsequent requests to authenticate the user.</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4153199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Workflow</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Upon successful authentication, the server generates a JWT containing user information and signs it with a secret key.</a:t>
            </a:r>
          </a:p>
          <a:p>
            <a:r>
              <a:rPr lang="en-US" dirty="0"/>
              <a:t>The server sends the JWT to the client, usually in the response body or as a header.</a:t>
            </a:r>
          </a:p>
          <a:p>
            <a:r>
              <a:rPr lang="en-US" dirty="0"/>
              <a:t>The client includes the JWT in the header of subsequent requests.</a:t>
            </a:r>
          </a:p>
          <a:p>
            <a:r>
              <a:rPr lang="en-US" dirty="0"/>
              <a:t>The server verifies the JWT's signature and decodes its payload to authenticate the user.</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1215829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Pros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Stateless: Tokens contain all necessary information for authentication, eliminating the need for server-side storage.</a:t>
            </a:r>
          </a:p>
          <a:p>
            <a:r>
              <a:rPr lang="en-US" dirty="0"/>
              <a:t>Scalable: Tokens can be easily distributed across multiple servers, improving scalability.</a:t>
            </a:r>
          </a:p>
          <a:p>
            <a:r>
              <a:rPr lang="en-US" dirty="0"/>
              <a:t>Enhanced security: Tokens can be encrypted and signed to prevent tampering and unauthorized access.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1028424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Cons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Token management: Requires additional effort to manage token lifecycle, including expiration and revocation.</a:t>
            </a:r>
          </a:p>
          <a:p>
            <a:r>
              <a:rPr lang="en-US" dirty="0"/>
              <a:t>Token size: Tokens can be larger than session identifiers, increasing network overhead.</a:t>
            </a:r>
          </a:p>
          <a:p>
            <a:r>
              <a:rPr lang="en-US" dirty="0"/>
              <a:t>Vulnerable to token theft: If not properly secured (e.g., through HTTPS), tokens can be intercepted and used by malicious actors.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427280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F0"/>
                </a:solidFill>
                <a:latin typeface="Arial" panose="020B0604020202020204" pitchFamily="34" charset="0"/>
                <a:cs typeface="Arial" panose="020B0604020202020204" pitchFamily="34" charset="0"/>
              </a:rPr>
              <a:t>OAuth</a:t>
            </a:r>
            <a:endParaRPr lang="en-US" b="1" dirty="0">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None/>
            </a:pPr>
            <a:r>
              <a:rPr lang="en-US" dirty="0"/>
              <a:t>OAuth is a protocol for delegated authorization, allowing third-party services to access a user's resources without exposing their credentials. Users can grant limited access to their data to external applications.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4152303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FF"/>
                </a:solidFill>
                <a:latin typeface="Arial" panose="020B0604020202020204" pitchFamily="34" charset="0"/>
                <a:cs typeface="Arial" panose="020B0604020202020204" pitchFamily="34" charset="0"/>
              </a:rPr>
              <a:t>Workflow</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Register your application with the OAuth provider and obtain client credentials (client ID and client secret).</a:t>
            </a:r>
          </a:p>
          <a:p>
            <a:r>
              <a:rPr lang="en-US" dirty="0"/>
              <a:t>Redirect users to the OAuth provider's authentication endpoint.</a:t>
            </a:r>
          </a:p>
          <a:p>
            <a:r>
              <a:rPr lang="en-US" dirty="0"/>
              <a:t>After authentication, the OAuth provider redirects the user back to your application with an authorization code.</a:t>
            </a:r>
          </a:p>
          <a:p>
            <a:r>
              <a:rPr lang="en-US" dirty="0"/>
              <a:t>Exchange the authorization code for an access token and optionally a refresh token.</a:t>
            </a:r>
          </a:p>
          <a:p>
            <a:r>
              <a:rPr lang="en-US" dirty="0"/>
              <a:t>Use the access token to access the user's resources on behalf of the user.</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3379697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FF"/>
                </a:solidFill>
                <a:latin typeface="Arial" panose="020B0604020202020204" pitchFamily="34" charset="0"/>
                <a:cs typeface="Arial" panose="020B0604020202020204" pitchFamily="34" charset="0"/>
              </a:rPr>
              <a:t>Pros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Single sign-on (SSO): Users can access multiple services with a single set of credentials, improving user experience.</a:t>
            </a:r>
          </a:p>
          <a:p>
            <a:r>
              <a:rPr lang="en-US" dirty="0"/>
              <a:t>Granular permissions: Users can grant limited access to their resources, enhancing privacy and security.</a:t>
            </a:r>
          </a:p>
          <a:p>
            <a:r>
              <a:rPr lang="en-US" dirty="0"/>
              <a:t>Widely supported: OAuth is a widely adopted standard used by many popular services and platforms.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853825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FF"/>
                </a:solidFill>
                <a:latin typeface="Arial" panose="020B0604020202020204" pitchFamily="34" charset="0"/>
                <a:cs typeface="Arial" panose="020B0604020202020204" pitchFamily="34" charset="0"/>
              </a:rPr>
              <a:t>Cons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Complexity: Implementing OAuth can be complex, requiring understanding of the protocol and its various flows.</a:t>
            </a:r>
          </a:p>
          <a:p>
            <a:r>
              <a:rPr lang="en-US" dirty="0"/>
              <a:t>Trust dependency: Users must trust third-party services with access to their data, raising privacy concerns.</a:t>
            </a:r>
          </a:p>
          <a:p>
            <a:r>
              <a:rPr lang="en-US" dirty="0"/>
              <a:t>Token management: Requires handling of access tokens and refresh tokens, adding complexity to authentication flow.</a:t>
            </a:r>
          </a:p>
          <a:p>
            <a:pPr marL="0" indent="0">
              <a:buNone/>
            </a:pPr>
            <a:endParaRPr lang="en-US" dirty="0"/>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876571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Arial" panose="020B0604020202020204" pitchFamily="34" charset="0"/>
                <a:cs typeface="Arial" panose="020B0604020202020204" pitchFamily="34" charset="0"/>
              </a:rPr>
              <a:t>Basic authentication</a:t>
            </a:r>
            <a:endParaRPr lang="en-US" b="1" dirty="0">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None/>
            </a:pPr>
            <a:r>
              <a:rPr lang="en-US" dirty="0"/>
              <a:t>Basic authentication involves users providing their credentials (username and password) with each request, encoded and sent to the server. It's simple but less secure compared to other methods.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2339098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FF"/>
                </a:solidFill>
                <a:latin typeface="Arial" panose="020B0604020202020204" pitchFamily="34" charset="0"/>
                <a:cs typeface="Arial" panose="020B0604020202020204" pitchFamily="34" charset="0"/>
              </a:rPr>
              <a:t>Workflow</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Clients encode the username and password in a Base64-encoded string and includes it in the request header.</a:t>
            </a:r>
          </a:p>
          <a:p>
            <a:r>
              <a:rPr lang="en-US" dirty="0"/>
              <a:t>The server decodes the string, extracts the credentials, and validates them against the stored credentials.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1059156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FF"/>
                </a:solidFill>
                <a:latin typeface="Arial" panose="020B0604020202020204" pitchFamily="34" charset="0"/>
                <a:cs typeface="Arial" panose="020B0604020202020204" pitchFamily="34" charset="0"/>
              </a:rPr>
              <a:t>Pros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Simple to implement: Requires minimal setup and configuration, making it easy to get started.</a:t>
            </a:r>
          </a:p>
          <a:p>
            <a:r>
              <a:rPr lang="en-US" dirty="0"/>
              <a:t>Universal support: Basic authentication is supported by virtually all web browsers and servers.</a:t>
            </a:r>
          </a:p>
          <a:p>
            <a:r>
              <a:rPr lang="en-US" dirty="0"/>
              <a:t>No session management: Does not require server-side storage or session management, reducing server load.</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534818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FFFF"/>
                </a:solidFill>
                <a:latin typeface="Arial" panose="020B0604020202020204" pitchFamily="34" charset="0"/>
                <a:cs typeface="Arial" panose="020B0604020202020204" pitchFamily="34" charset="0"/>
              </a:rPr>
              <a:t>Cons</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Lack of security: Credentials are sent with every request, increasing the risk of interception and unauthorized access.</a:t>
            </a:r>
          </a:p>
          <a:p>
            <a:r>
              <a:rPr lang="en-US" dirty="0"/>
              <a:t>No encryption: Credentials are sent in plaintext, making them vulnerable to interception.</a:t>
            </a:r>
          </a:p>
          <a:p>
            <a:r>
              <a:rPr lang="en-US" dirty="0"/>
              <a:t>Limited functionality: Does not support features like session management or granular permissions, limiting its usability in complex applications.</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361542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C000"/>
                </a:solidFill>
                <a:latin typeface="Arial" panose="020B0604020202020204" pitchFamily="34" charset="0"/>
                <a:cs typeface="Arial" panose="020B0604020202020204" pitchFamily="34" charset="0"/>
              </a:rPr>
              <a:t>Warning</a:t>
            </a:r>
            <a:endParaRPr lang="en-US" b="1" dirty="0">
              <a:solidFill>
                <a:srgbClr val="FFC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None/>
            </a:pPr>
            <a:r>
              <a:rPr lang="en-US" dirty="0"/>
              <a:t>Avoid using basic authentication for sensitive applications as credentials are sent with every request, making them susceptible to interception.</a:t>
            </a:r>
          </a:p>
        </p:txBody>
      </p:sp>
      <p:sp>
        <p:nvSpPr>
          <p:cNvPr id="4" name="Footer Placeholder 3"/>
          <p:cNvSpPr>
            <a:spLocks noGrp="1"/>
          </p:cNvSpPr>
          <p:nvPr>
            <p:ph type="ftr" sz="quarter" idx="11"/>
          </p:nvPr>
        </p:nvSpPr>
        <p:spPr/>
        <p:txBody>
          <a:bodyPr/>
          <a:lstStyle/>
          <a:p>
            <a:r>
              <a:rPr lang="en-US" smtClean="0"/>
              <a:t>TechTalks</a:t>
            </a:r>
            <a:endParaRPr lang="en-US"/>
          </a:p>
        </p:txBody>
      </p:sp>
    </p:spTree>
    <p:extLst>
      <p:ext uri="{BB962C8B-B14F-4D97-AF65-F5344CB8AC3E}">
        <p14:creationId xmlns:p14="http://schemas.microsoft.com/office/powerpoint/2010/main" val="37203123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TotalTime>
  <Words>1114</Words>
  <Application>Microsoft Office PowerPoint</Application>
  <PresentationFormat>Widescreen</PresentationFormat>
  <Paragraphs>101</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What is Authentication</vt:lpstr>
      <vt:lpstr>Authentication and authorization are two essential concepts in web security</vt:lpstr>
      <vt:lpstr>Why do we need authentication?</vt:lpstr>
      <vt:lpstr>Types of Authentication</vt:lpstr>
      <vt:lpstr>Session-based</vt:lpstr>
      <vt:lpstr>What's a cookie?</vt:lpstr>
      <vt:lpstr>Workflow</vt:lpstr>
      <vt:lpstr>Pros</vt:lpstr>
      <vt:lpstr>Cons</vt:lpstr>
      <vt:lpstr>Token-based (JWT)</vt:lpstr>
      <vt:lpstr>Workflow</vt:lpstr>
      <vt:lpstr>Pros</vt:lpstr>
      <vt:lpstr>Cons</vt:lpstr>
      <vt:lpstr>OAuth</vt:lpstr>
      <vt:lpstr>Workflow</vt:lpstr>
      <vt:lpstr>Pros</vt:lpstr>
      <vt:lpstr>Cons</vt:lpstr>
      <vt:lpstr>Basic authentication</vt:lpstr>
      <vt:lpstr>Workflow</vt:lpstr>
      <vt:lpstr>Pros</vt:lpstr>
      <vt:lpstr>Cons</vt:lpstr>
      <vt:lpstr>Warning</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Authentication</dc:title>
  <dc:creator>Microsoft account</dc:creator>
  <cp:lastModifiedBy>Microsoft account</cp:lastModifiedBy>
  <cp:revision>2</cp:revision>
  <dcterms:created xsi:type="dcterms:W3CDTF">2026-04-13T21:24:51Z</dcterms:created>
  <dcterms:modified xsi:type="dcterms:W3CDTF">2026-04-13T21:39:36Z</dcterms:modified>
</cp:coreProperties>
</file>