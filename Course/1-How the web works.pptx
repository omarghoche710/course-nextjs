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handoutMasterIdLst>
    <p:handoutMasterId r:id="rId36"/>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 id="279" r:id="rId26"/>
    <p:sldId id="281" r:id="rId27"/>
    <p:sldId id="282" r:id="rId28"/>
    <p:sldId id="283" r:id="rId29"/>
    <p:sldId id="284" r:id="rId30"/>
    <p:sldId id="285" r:id="rId31"/>
    <p:sldId id="286" r:id="rId32"/>
    <p:sldId id="287" r:id="rId33"/>
    <p:sldId id="28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35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 xmlns:a16="http://schemas.microsoft.com/office/drawing/2014/main" id="{6FD5A72C-D01B-58F6-0FD3-4A8B7B690F5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 xmlns:a16="http://schemas.microsoft.com/office/drawing/2014/main" id="{09542BF9-5DC8-0C6D-14C6-2E6D8EADF6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8980696-6F14-40A0-AFC1-477F6E44705E}" type="datetimeFigureOut">
              <a:rPr lang="en-US" smtClean="0"/>
              <a:t>3/4/2026</a:t>
            </a:fld>
            <a:endParaRPr lang="en-US"/>
          </a:p>
        </p:txBody>
      </p:sp>
      <p:sp>
        <p:nvSpPr>
          <p:cNvPr id="4" name="Footer Placeholder 3">
            <a:extLst>
              <a:ext uri="{FF2B5EF4-FFF2-40B4-BE49-F238E27FC236}">
                <a16:creationId xmlns="" xmlns:a16="http://schemas.microsoft.com/office/drawing/2014/main" id="{8EE3DF4B-EC5F-F311-A243-D51A17C110E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TechTalks</a:t>
            </a:r>
          </a:p>
        </p:txBody>
      </p:sp>
      <p:sp>
        <p:nvSpPr>
          <p:cNvPr id="5" name="Slide Number Placeholder 4">
            <a:extLst>
              <a:ext uri="{FF2B5EF4-FFF2-40B4-BE49-F238E27FC236}">
                <a16:creationId xmlns="" xmlns:a16="http://schemas.microsoft.com/office/drawing/2014/main" id="{D6F4837C-3870-0FED-82DF-47A6362F937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C3005E5-F725-41B7-8675-37B74AE8B4A7}" type="slidenum">
              <a:rPr lang="en-US" smtClean="0"/>
              <a:t>‹#›</a:t>
            </a:fld>
            <a:endParaRPr lang="en-US"/>
          </a:p>
        </p:txBody>
      </p:sp>
    </p:spTree>
    <p:extLst>
      <p:ext uri="{BB962C8B-B14F-4D97-AF65-F5344CB8AC3E}">
        <p14:creationId xmlns:p14="http://schemas.microsoft.com/office/powerpoint/2010/main" val="129350219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A212E-8CCA-461B-B4A5-444424B06CBB}" type="datetimeFigureOut">
              <a:rPr lang="en-US" smtClean="0"/>
              <a:t>3/4/2026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TechTalks</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56C237-524C-4DD2-B4D7-0805B931083A}" type="slidenum">
              <a:rPr lang="en-US" smtClean="0"/>
              <a:t>‹#›</a:t>
            </a:fld>
            <a:endParaRPr lang="en-US"/>
          </a:p>
        </p:txBody>
      </p:sp>
    </p:spTree>
    <p:extLst>
      <p:ext uri="{BB962C8B-B14F-4D97-AF65-F5344CB8AC3E}">
        <p14:creationId xmlns:p14="http://schemas.microsoft.com/office/powerpoint/2010/main" val="74171237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8CC8932-8E20-97B0-A716-1676F880429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 xmlns:a16="http://schemas.microsoft.com/office/drawing/2014/main" id="{A35853CA-F522-6368-3914-6A07DECE638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 xmlns:a16="http://schemas.microsoft.com/office/drawing/2014/main" id="{174A2D3F-B450-5B94-D125-DC72960A3B6D}"/>
              </a:ext>
            </a:extLst>
          </p:cNvPr>
          <p:cNvSpPr>
            <a:spLocks noGrp="1"/>
          </p:cNvSpPr>
          <p:nvPr>
            <p:ph type="dt" sz="half" idx="10"/>
          </p:nvPr>
        </p:nvSpPr>
        <p:spPr/>
        <p:txBody>
          <a:bodyPr/>
          <a:lstStyle/>
          <a:p>
            <a:fld id="{10E536A1-D8AF-4692-B3F1-B424FF4CF71A}" type="datetimeFigureOut">
              <a:rPr lang="en-US" smtClean="0"/>
              <a:t>3/4/2026</a:t>
            </a:fld>
            <a:endParaRPr lang="en-US"/>
          </a:p>
        </p:txBody>
      </p:sp>
      <p:sp>
        <p:nvSpPr>
          <p:cNvPr id="5" name="Footer Placeholder 4">
            <a:extLst>
              <a:ext uri="{FF2B5EF4-FFF2-40B4-BE49-F238E27FC236}">
                <a16:creationId xmlns="" xmlns:a16="http://schemas.microsoft.com/office/drawing/2014/main" id="{DBE00021-836C-E747-ECF7-3B8E441733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1C455C58-C66B-926D-7244-49ADD40EBA13}"/>
              </a:ext>
            </a:extLst>
          </p:cNvPr>
          <p:cNvSpPr>
            <a:spLocks noGrp="1"/>
          </p:cNvSpPr>
          <p:nvPr>
            <p:ph type="sldNum" sz="quarter" idx="12"/>
          </p:nvPr>
        </p:nvSpPr>
        <p:spPr/>
        <p:txBody>
          <a:bodyPr/>
          <a:lstStyle/>
          <a:p>
            <a:fld id="{F02D81F8-24BF-4C5A-88D3-ADBC450B7CC9}" type="slidenum">
              <a:rPr lang="en-US" smtClean="0"/>
              <a:t>‹#›</a:t>
            </a:fld>
            <a:endParaRPr lang="en-US"/>
          </a:p>
        </p:txBody>
      </p:sp>
    </p:spTree>
    <p:extLst>
      <p:ext uri="{BB962C8B-B14F-4D97-AF65-F5344CB8AC3E}">
        <p14:creationId xmlns:p14="http://schemas.microsoft.com/office/powerpoint/2010/main" val="4226653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CFA5542-86AE-3E70-66EA-C9F9903E8B0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89ADE608-37A4-CCC8-18E4-A069D3C4B7A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C82C3853-9C22-C6E0-B3ED-DEBBD6853928}"/>
              </a:ext>
            </a:extLst>
          </p:cNvPr>
          <p:cNvSpPr>
            <a:spLocks noGrp="1"/>
          </p:cNvSpPr>
          <p:nvPr>
            <p:ph type="dt" sz="half" idx="10"/>
          </p:nvPr>
        </p:nvSpPr>
        <p:spPr/>
        <p:txBody>
          <a:bodyPr/>
          <a:lstStyle/>
          <a:p>
            <a:fld id="{10E536A1-D8AF-4692-B3F1-B424FF4CF71A}" type="datetimeFigureOut">
              <a:rPr lang="en-US" smtClean="0"/>
              <a:t>3/4/2026</a:t>
            </a:fld>
            <a:endParaRPr lang="en-US"/>
          </a:p>
        </p:txBody>
      </p:sp>
      <p:sp>
        <p:nvSpPr>
          <p:cNvPr id="5" name="Footer Placeholder 4">
            <a:extLst>
              <a:ext uri="{FF2B5EF4-FFF2-40B4-BE49-F238E27FC236}">
                <a16:creationId xmlns="" xmlns:a16="http://schemas.microsoft.com/office/drawing/2014/main" id="{3A122822-C621-A228-E671-B688B39E37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341A7FE-424A-59E0-9129-08D8CF6AE66B}"/>
              </a:ext>
            </a:extLst>
          </p:cNvPr>
          <p:cNvSpPr>
            <a:spLocks noGrp="1"/>
          </p:cNvSpPr>
          <p:nvPr>
            <p:ph type="sldNum" sz="quarter" idx="12"/>
          </p:nvPr>
        </p:nvSpPr>
        <p:spPr/>
        <p:txBody>
          <a:bodyPr/>
          <a:lstStyle/>
          <a:p>
            <a:fld id="{F02D81F8-24BF-4C5A-88D3-ADBC450B7CC9}" type="slidenum">
              <a:rPr lang="en-US" smtClean="0"/>
              <a:t>‹#›</a:t>
            </a:fld>
            <a:endParaRPr lang="en-US"/>
          </a:p>
        </p:txBody>
      </p:sp>
    </p:spTree>
    <p:extLst>
      <p:ext uri="{BB962C8B-B14F-4D97-AF65-F5344CB8AC3E}">
        <p14:creationId xmlns:p14="http://schemas.microsoft.com/office/powerpoint/2010/main" val="10109237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363E3DB-5448-4987-B1D7-A2E43312A0D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 xmlns:a16="http://schemas.microsoft.com/office/drawing/2014/main" id="{B10869A4-0DCC-079C-1673-BF0166B3130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E9959FF1-511E-D9F8-8627-9089B053308F}"/>
              </a:ext>
            </a:extLst>
          </p:cNvPr>
          <p:cNvSpPr>
            <a:spLocks noGrp="1"/>
          </p:cNvSpPr>
          <p:nvPr>
            <p:ph type="dt" sz="half" idx="10"/>
          </p:nvPr>
        </p:nvSpPr>
        <p:spPr/>
        <p:txBody>
          <a:bodyPr/>
          <a:lstStyle/>
          <a:p>
            <a:fld id="{10E536A1-D8AF-4692-B3F1-B424FF4CF71A}" type="datetimeFigureOut">
              <a:rPr lang="en-US" smtClean="0"/>
              <a:t>3/4/2026</a:t>
            </a:fld>
            <a:endParaRPr lang="en-US"/>
          </a:p>
        </p:txBody>
      </p:sp>
      <p:sp>
        <p:nvSpPr>
          <p:cNvPr id="5" name="Footer Placeholder 4">
            <a:extLst>
              <a:ext uri="{FF2B5EF4-FFF2-40B4-BE49-F238E27FC236}">
                <a16:creationId xmlns="" xmlns:a16="http://schemas.microsoft.com/office/drawing/2014/main" id="{4DEDF78A-C853-B265-4638-85DFE16CBB1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F74EC815-CECF-7C42-66E7-E5A609D17FA8}"/>
              </a:ext>
            </a:extLst>
          </p:cNvPr>
          <p:cNvSpPr>
            <a:spLocks noGrp="1"/>
          </p:cNvSpPr>
          <p:nvPr>
            <p:ph type="sldNum" sz="quarter" idx="12"/>
          </p:nvPr>
        </p:nvSpPr>
        <p:spPr/>
        <p:txBody>
          <a:bodyPr/>
          <a:lstStyle/>
          <a:p>
            <a:fld id="{F02D81F8-24BF-4C5A-88D3-ADBC450B7CC9}" type="slidenum">
              <a:rPr lang="en-US" smtClean="0"/>
              <a:t>‹#›</a:t>
            </a:fld>
            <a:endParaRPr lang="en-US"/>
          </a:p>
        </p:txBody>
      </p:sp>
    </p:spTree>
    <p:extLst>
      <p:ext uri="{BB962C8B-B14F-4D97-AF65-F5344CB8AC3E}">
        <p14:creationId xmlns:p14="http://schemas.microsoft.com/office/powerpoint/2010/main" val="24836003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95ED246-ED02-4682-43BF-58F150186B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 xmlns:a16="http://schemas.microsoft.com/office/drawing/2014/main" id="{FA74F21A-1D36-65C1-6D5A-93016D4C5E6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 xmlns:a16="http://schemas.microsoft.com/office/drawing/2014/main" id="{4ADF00E8-84E3-4F7F-E315-C9AFE88FE5B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 xmlns:a16="http://schemas.microsoft.com/office/drawing/2014/main" id="{4C843DA3-9470-CD8E-6F4B-F2AB4471705A}"/>
              </a:ext>
            </a:extLst>
          </p:cNvPr>
          <p:cNvSpPr>
            <a:spLocks noGrp="1"/>
          </p:cNvSpPr>
          <p:nvPr>
            <p:ph type="dt" sz="half" idx="10"/>
          </p:nvPr>
        </p:nvSpPr>
        <p:spPr/>
        <p:txBody>
          <a:bodyPr/>
          <a:lstStyle/>
          <a:p>
            <a:fld id="{10E536A1-D8AF-4692-B3F1-B424FF4CF71A}" type="datetimeFigureOut">
              <a:rPr lang="en-US" smtClean="0"/>
              <a:t>3/4/2026</a:t>
            </a:fld>
            <a:endParaRPr lang="en-US"/>
          </a:p>
        </p:txBody>
      </p:sp>
      <p:sp>
        <p:nvSpPr>
          <p:cNvPr id="6" name="Footer Placeholder 5">
            <a:extLst>
              <a:ext uri="{FF2B5EF4-FFF2-40B4-BE49-F238E27FC236}">
                <a16:creationId xmlns="" xmlns:a16="http://schemas.microsoft.com/office/drawing/2014/main" id="{9FBB0438-F35A-A979-5C54-9CD81C2519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D627CB0B-8CA4-D977-0409-9B27F0B2A26C}"/>
              </a:ext>
            </a:extLst>
          </p:cNvPr>
          <p:cNvSpPr>
            <a:spLocks noGrp="1"/>
          </p:cNvSpPr>
          <p:nvPr>
            <p:ph type="sldNum" sz="quarter" idx="12"/>
          </p:nvPr>
        </p:nvSpPr>
        <p:spPr/>
        <p:txBody>
          <a:bodyPr/>
          <a:lstStyle/>
          <a:p>
            <a:fld id="{F02D81F8-24BF-4C5A-88D3-ADBC450B7CC9}" type="slidenum">
              <a:rPr lang="en-US" smtClean="0"/>
              <a:t>‹#›</a:t>
            </a:fld>
            <a:endParaRPr lang="en-US"/>
          </a:p>
        </p:txBody>
      </p:sp>
    </p:spTree>
    <p:extLst>
      <p:ext uri="{BB962C8B-B14F-4D97-AF65-F5344CB8AC3E}">
        <p14:creationId xmlns:p14="http://schemas.microsoft.com/office/powerpoint/2010/main" val="3008821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CF482C7-7997-A0D7-1632-E362FA66845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 xmlns:a16="http://schemas.microsoft.com/office/drawing/2014/main" id="{F12DD740-B266-7CA9-8085-26B35B8B3C7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D0499E4C-3E22-09EA-A1B2-B05B5627E23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 xmlns:a16="http://schemas.microsoft.com/office/drawing/2014/main" id="{6E0DC999-1CEA-C507-0B04-BA463E4286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43050CC0-4609-FC4A-695E-2D1DA64E3C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 xmlns:a16="http://schemas.microsoft.com/office/drawing/2014/main" id="{5A517F88-12E1-A4FE-4994-5F3C10E8DEE5}"/>
              </a:ext>
            </a:extLst>
          </p:cNvPr>
          <p:cNvSpPr>
            <a:spLocks noGrp="1"/>
          </p:cNvSpPr>
          <p:nvPr>
            <p:ph type="dt" sz="half" idx="10"/>
          </p:nvPr>
        </p:nvSpPr>
        <p:spPr/>
        <p:txBody>
          <a:bodyPr/>
          <a:lstStyle/>
          <a:p>
            <a:fld id="{10E536A1-D8AF-4692-B3F1-B424FF4CF71A}" type="datetimeFigureOut">
              <a:rPr lang="en-US" smtClean="0"/>
              <a:t>3/4/2026</a:t>
            </a:fld>
            <a:endParaRPr lang="en-US"/>
          </a:p>
        </p:txBody>
      </p:sp>
      <p:sp>
        <p:nvSpPr>
          <p:cNvPr id="8" name="Footer Placeholder 7">
            <a:extLst>
              <a:ext uri="{FF2B5EF4-FFF2-40B4-BE49-F238E27FC236}">
                <a16:creationId xmlns="" xmlns:a16="http://schemas.microsoft.com/office/drawing/2014/main" id="{D2D33183-4CC7-29ED-7421-A5AE2575A86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7F35CAD1-9C53-2950-3DE5-8A938C272102}"/>
              </a:ext>
            </a:extLst>
          </p:cNvPr>
          <p:cNvSpPr>
            <a:spLocks noGrp="1"/>
          </p:cNvSpPr>
          <p:nvPr>
            <p:ph type="sldNum" sz="quarter" idx="12"/>
          </p:nvPr>
        </p:nvSpPr>
        <p:spPr/>
        <p:txBody>
          <a:bodyPr/>
          <a:lstStyle/>
          <a:p>
            <a:fld id="{F02D81F8-24BF-4C5A-88D3-ADBC450B7CC9}" type="slidenum">
              <a:rPr lang="en-US" smtClean="0"/>
              <a:t>‹#›</a:t>
            </a:fld>
            <a:endParaRPr lang="en-US"/>
          </a:p>
        </p:txBody>
      </p:sp>
    </p:spTree>
    <p:extLst>
      <p:ext uri="{BB962C8B-B14F-4D97-AF65-F5344CB8AC3E}">
        <p14:creationId xmlns:p14="http://schemas.microsoft.com/office/powerpoint/2010/main" val="3496047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8AA6D72-8549-A6ED-D2E4-E8DE58339D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 xmlns:a16="http://schemas.microsoft.com/office/drawing/2014/main" id="{2B71E133-61E6-C42D-DBE0-411EFB81C05D}"/>
              </a:ext>
            </a:extLst>
          </p:cNvPr>
          <p:cNvSpPr>
            <a:spLocks noGrp="1"/>
          </p:cNvSpPr>
          <p:nvPr>
            <p:ph type="dt" sz="half" idx="10"/>
          </p:nvPr>
        </p:nvSpPr>
        <p:spPr/>
        <p:txBody>
          <a:bodyPr/>
          <a:lstStyle/>
          <a:p>
            <a:fld id="{10E536A1-D8AF-4692-B3F1-B424FF4CF71A}" type="datetimeFigureOut">
              <a:rPr lang="en-US" smtClean="0"/>
              <a:t>3/4/2026</a:t>
            </a:fld>
            <a:endParaRPr lang="en-US"/>
          </a:p>
        </p:txBody>
      </p:sp>
      <p:sp>
        <p:nvSpPr>
          <p:cNvPr id="4" name="Footer Placeholder 3">
            <a:extLst>
              <a:ext uri="{FF2B5EF4-FFF2-40B4-BE49-F238E27FC236}">
                <a16:creationId xmlns="" xmlns:a16="http://schemas.microsoft.com/office/drawing/2014/main" id="{1347390B-491E-9984-1302-75E01741DA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6197F084-A837-8136-B2C6-5E4B64739E65}"/>
              </a:ext>
            </a:extLst>
          </p:cNvPr>
          <p:cNvSpPr>
            <a:spLocks noGrp="1"/>
          </p:cNvSpPr>
          <p:nvPr>
            <p:ph type="sldNum" sz="quarter" idx="12"/>
          </p:nvPr>
        </p:nvSpPr>
        <p:spPr/>
        <p:txBody>
          <a:bodyPr/>
          <a:lstStyle/>
          <a:p>
            <a:fld id="{F02D81F8-24BF-4C5A-88D3-ADBC450B7CC9}" type="slidenum">
              <a:rPr lang="en-US" smtClean="0"/>
              <a:t>‹#›</a:t>
            </a:fld>
            <a:endParaRPr lang="en-US"/>
          </a:p>
        </p:txBody>
      </p:sp>
    </p:spTree>
    <p:extLst>
      <p:ext uri="{BB962C8B-B14F-4D97-AF65-F5344CB8AC3E}">
        <p14:creationId xmlns:p14="http://schemas.microsoft.com/office/powerpoint/2010/main" val="203681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CA1DEA5B-AFA2-0075-CEDF-7624EAF5276E}"/>
              </a:ext>
            </a:extLst>
          </p:cNvPr>
          <p:cNvSpPr>
            <a:spLocks noGrp="1"/>
          </p:cNvSpPr>
          <p:nvPr>
            <p:ph type="dt" sz="half" idx="10"/>
          </p:nvPr>
        </p:nvSpPr>
        <p:spPr/>
        <p:txBody>
          <a:bodyPr/>
          <a:lstStyle/>
          <a:p>
            <a:fld id="{10E536A1-D8AF-4692-B3F1-B424FF4CF71A}" type="datetimeFigureOut">
              <a:rPr lang="en-US" smtClean="0"/>
              <a:t>3/4/2026</a:t>
            </a:fld>
            <a:endParaRPr lang="en-US"/>
          </a:p>
        </p:txBody>
      </p:sp>
      <p:sp>
        <p:nvSpPr>
          <p:cNvPr id="3" name="Footer Placeholder 2">
            <a:extLst>
              <a:ext uri="{FF2B5EF4-FFF2-40B4-BE49-F238E27FC236}">
                <a16:creationId xmlns="" xmlns:a16="http://schemas.microsoft.com/office/drawing/2014/main" id="{1BB3FCF2-7963-44C8-1B45-76542001130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133FF353-9551-CE7D-3D0D-EBED79FE3427}"/>
              </a:ext>
            </a:extLst>
          </p:cNvPr>
          <p:cNvSpPr>
            <a:spLocks noGrp="1"/>
          </p:cNvSpPr>
          <p:nvPr>
            <p:ph type="sldNum" sz="quarter" idx="12"/>
          </p:nvPr>
        </p:nvSpPr>
        <p:spPr/>
        <p:txBody>
          <a:bodyPr/>
          <a:lstStyle/>
          <a:p>
            <a:fld id="{F02D81F8-24BF-4C5A-88D3-ADBC450B7CC9}" type="slidenum">
              <a:rPr lang="en-US" smtClean="0"/>
              <a:t>‹#›</a:t>
            </a:fld>
            <a:endParaRPr lang="en-US"/>
          </a:p>
        </p:txBody>
      </p:sp>
    </p:spTree>
    <p:extLst>
      <p:ext uri="{BB962C8B-B14F-4D97-AF65-F5344CB8AC3E}">
        <p14:creationId xmlns:p14="http://schemas.microsoft.com/office/powerpoint/2010/main" val="1047220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9D7434-8AD3-9B8F-1A22-AF9ABA597A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 xmlns:a16="http://schemas.microsoft.com/office/drawing/2014/main" id="{707922FC-CD6D-E391-C2E5-2C94A6CB46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 xmlns:a16="http://schemas.microsoft.com/office/drawing/2014/main" id="{984D53F6-2253-556F-0AED-AA269E8AAC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8BF9946E-A885-D035-B368-A44E4F26D8CC}"/>
              </a:ext>
            </a:extLst>
          </p:cNvPr>
          <p:cNvSpPr>
            <a:spLocks noGrp="1"/>
          </p:cNvSpPr>
          <p:nvPr>
            <p:ph type="dt" sz="half" idx="10"/>
          </p:nvPr>
        </p:nvSpPr>
        <p:spPr/>
        <p:txBody>
          <a:bodyPr/>
          <a:lstStyle/>
          <a:p>
            <a:fld id="{10E536A1-D8AF-4692-B3F1-B424FF4CF71A}" type="datetimeFigureOut">
              <a:rPr lang="en-US" smtClean="0"/>
              <a:t>3/4/2026</a:t>
            </a:fld>
            <a:endParaRPr lang="en-US"/>
          </a:p>
        </p:txBody>
      </p:sp>
      <p:sp>
        <p:nvSpPr>
          <p:cNvPr id="6" name="Footer Placeholder 5">
            <a:extLst>
              <a:ext uri="{FF2B5EF4-FFF2-40B4-BE49-F238E27FC236}">
                <a16:creationId xmlns="" xmlns:a16="http://schemas.microsoft.com/office/drawing/2014/main" id="{42AE8C2D-F0EB-31FD-0E75-45662F886E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F533B0D6-F8A2-B30F-47E7-446CD21E9D6D}"/>
              </a:ext>
            </a:extLst>
          </p:cNvPr>
          <p:cNvSpPr>
            <a:spLocks noGrp="1"/>
          </p:cNvSpPr>
          <p:nvPr>
            <p:ph type="sldNum" sz="quarter" idx="12"/>
          </p:nvPr>
        </p:nvSpPr>
        <p:spPr/>
        <p:txBody>
          <a:bodyPr/>
          <a:lstStyle/>
          <a:p>
            <a:fld id="{F02D81F8-24BF-4C5A-88D3-ADBC450B7CC9}" type="slidenum">
              <a:rPr lang="en-US" smtClean="0"/>
              <a:t>‹#›</a:t>
            </a:fld>
            <a:endParaRPr lang="en-US"/>
          </a:p>
        </p:txBody>
      </p:sp>
    </p:spTree>
    <p:extLst>
      <p:ext uri="{BB962C8B-B14F-4D97-AF65-F5344CB8AC3E}">
        <p14:creationId xmlns:p14="http://schemas.microsoft.com/office/powerpoint/2010/main" val="1086367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98BE6B-AC54-CFED-E4A0-912C0C8BDB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 xmlns:a16="http://schemas.microsoft.com/office/drawing/2014/main" id="{FF9FEAEB-FE2C-5B6A-945F-00EAB37C8A7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4B77504C-7FDB-95AF-D88F-ED66CB8219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4C992BF0-2287-1285-33E8-F5441087C96B}"/>
              </a:ext>
            </a:extLst>
          </p:cNvPr>
          <p:cNvSpPr>
            <a:spLocks noGrp="1"/>
          </p:cNvSpPr>
          <p:nvPr>
            <p:ph type="dt" sz="half" idx="10"/>
          </p:nvPr>
        </p:nvSpPr>
        <p:spPr/>
        <p:txBody>
          <a:bodyPr/>
          <a:lstStyle/>
          <a:p>
            <a:fld id="{10E536A1-D8AF-4692-B3F1-B424FF4CF71A}" type="datetimeFigureOut">
              <a:rPr lang="en-US" smtClean="0"/>
              <a:t>3/4/2026</a:t>
            </a:fld>
            <a:endParaRPr lang="en-US"/>
          </a:p>
        </p:txBody>
      </p:sp>
      <p:sp>
        <p:nvSpPr>
          <p:cNvPr id="6" name="Footer Placeholder 5">
            <a:extLst>
              <a:ext uri="{FF2B5EF4-FFF2-40B4-BE49-F238E27FC236}">
                <a16:creationId xmlns="" xmlns:a16="http://schemas.microsoft.com/office/drawing/2014/main" id="{0D815172-C1D3-7035-E672-53605A41CC2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70C7D36E-124E-0ED4-98BB-0D2CCE7D9FDE}"/>
              </a:ext>
            </a:extLst>
          </p:cNvPr>
          <p:cNvSpPr>
            <a:spLocks noGrp="1"/>
          </p:cNvSpPr>
          <p:nvPr>
            <p:ph type="sldNum" sz="quarter" idx="12"/>
          </p:nvPr>
        </p:nvSpPr>
        <p:spPr/>
        <p:txBody>
          <a:bodyPr/>
          <a:lstStyle/>
          <a:p>
            <a:fld id="{F02D81F8-24BF-4C5A-88D3-ADBC450B7CC9}" type="slidenum">
              <a:rPr lang="en-US" smtClean="0"/>
              <a:t>‹#›</a:t>
            </a:fld>
            <a:endParaRPr lang="en-US"/>
          </a:p>
        </p:txBody>
      </p:sp>
    </p:spTree>
    <p:extLst>
      <p:ext uri="{BB962C8B-B14F-4D97-AF65-F5344CB8AC3E}">
        <p14:creationId xmlns:p14="http://schemas.microsoft.com/office/powerpoint/2010/main" val="2635240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2A2E8C-98AE-4799-E1A8-061F59B3894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 xmlns:a16="http://schemas.microsoft.com/office/drawing/2014/main" id="{262347EA-901E-6647-3C62-40ABAB47DF8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88D246E-886E-71BB-ADD3-EF950AAD2F83}"/>
              </a:ext>
            </a:extLst>
          </p:cNvPr>
          <p:cNvSpPr>
            <a:spLocks noGrp="1"/>
          </p:cNvSpPr>
          <p:nvPr>
            <p:ph type="dt" sz="half" idx="10"/>
          </p:nvPr>
        </p:nvSpPr>
        <p:spPr/>
        <p:txBody>
          <a:bodyPr/>
          <a:lstStyle/>
          <a:p>
            <a:fld id="{10E536A1-D8AF-4692-B3F1-B424FF4CF71A}" type="datetimeFigureOut">
              <a:rPr lang="en-US" smtClean="0"/>
              <a:t>3/4/2026</a:t>
            </a:fld>
            <a:endParaRPr lang="en-US"/>
          </a:p>
        </p:txBody>
      </p:sp>
      <p:sp>
        <p:nvSpPr>
          <p:cNvPr id="5" name="Footer Placeholder 4">
            <a:extLst>
              <a:ext uri="{FF2B5EF4-FFF2-40B4-BE49-F238E27FC236}">
                <a16:creationId xmlns="" xmlns:a16="http://schemas.microsoft.com/office/drawing/2014/main" id="{255B2E9A-BE1E-E1B3-42F1-71055B54A2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87EEA07A-E43E-0BC7-5933-05E07880C912}"/>
              </a:ext>
            </a:extLst>
          </p:cNvPr>
          <p:cNvSpPr>
            <a:spLocks noGrp="1"/>
          </p:cNvSpPr>
          <p:nvPr>
            <p:ph type="sldNum" sz="quarter" idx="12"/>
          </p:nvPr>
        </p:nvSpPr>
        <p:spPr/>
        <p:txBody>
          <a:bodyPr/>
          <a:lstStyle/>
          <a:p>
            <a:fld id="{F02D81F8-24BF-4C5A-88D3-ADBC450B7CC9}" type="slidenum">
              <a:rPr lang="en-US" smtClean="0"/>
              <a:t>‹#›</a:t>
            </a:fld>
            <a:endParaRPr lang="en-US"/>
          </a:p>
        </p:txBody>
      </p:sp>
    </p:spTree>
    <p:extLst>
      <p:ext uri="{BB962C8B-B14F-4D97-AF65-F5344CB8AC3E}">
        <p14:creationId xmlns:p14="http://schemas.microsoft.com/office/powerpoint/2010/main" val="2778712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5A6353F3-AC8D-7DB1-DA7B-3BFD64AA37A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 xmlns:a16="http://schemas.microsoft.com/office/drawing/2014/main" id="{CAFCB80D-CEC4-0A72-8F23-F39136ED469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B88BAA66-66CB-6DD6-A84C-B066F63535C8}"/>
              </a:ext>
            </a:extLst>
          </p:cNvPr>
          <p:cNvSpPr>
            <a:spLocks noGrp="1"/>
          </p:cNvSpPr>
          <p:nvPr>
            <p:ph type="dt" sz="half" idx="10"/>
          </p:nvPr>
        </p:nvSpPr>
        <p:spPr/>
        <p:txBody>
          <a:bodyPr/>
          <a:lstStyle/>
          <a:p>
            <a:fld id="{10E536A1-D8AF-4692-B3F1-B424FF4CF71A}" type="datetimeFigureOut">
              <a:rPr lang="en-US" smtClean="0"/>
              <a:t>3/4/2026</a:t>
            </a:fld>
            <a:endParaRPr lang="en-US"/>
          </a:p>
        </p:txBody>
      </p:sp>
      <p:sp>
        <p:nvSpPr>
          <p:cNvPr id="5" name="Footer Placeholder 4">
            <a:extLst>
              <a:ext uri="{FF2B5EF4-FFF2-40B4-BE49-F238E27FC236}">
                <a16:creationId xmlns="" xmlns:a16="http://schemas.microsoft.com/office/drawing/2014/main" id="{F3600734-E88D-59E3-97ED-D0AED43724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A3DFB390-D0D4-B77A-6A42-9B8D55C61A2A}"/>
              </a:ext>
            </a:extLst>
          </p:cNvPr>
          <p:cNvSpPr>
            <a:spLocks noGrp="1"/>
          </p:cNvSpPr>
          <p:nvPr>
            <p:ph type="sldNum" sz="quarter" idx="12"/>
          </p:nvPr>
        </p:nvSpPr>
        <p:spPr/>
        <p:txBody>
          <a:bodyPr/>
          <a:lstStyle/>
          <a:p>
            <a:fld id="{F02D81F8-24BF-4C5A-88D3-ADBC450B7CC9}" type="slidenum">
              <a:rPr lang="en-US" smtClean="0"/>
              <a:t>‹#›</a:t>
            </a:fld>
            <a:endParaRPr lang="en-US"/>
          </a:p>
        </p:txBody>
      </p:sp>
    </p:spTree>
    <p:extLst>
      <p:ext uri="{BB962C8B-B14F-4D97-AF65-F5344CB8AC3E}">
        <p14:creationId xmlns:p14="http://schemas.microsoft.com/office/powerpoint/2010/main" val="221229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14DF4843-BBAB-877D-B1B3-B90066EACFF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 xmlns:a16="http://schemas.microsoft.com/office/drawing/2014/main" id="{208FDBE3-A417-5D48-BF09-FF27B46BF4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 xmlns:a16="http://schemas.microsoft.com/office/drawing/2014/main" id="{42ABA007-05CF-D616-D4A2-0D0DBD4408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0E536A1-D8AF-4692-B3F1-B424FF4CF71A}" type="datetimeFigureOut">
              <a:rPr lang="en-US" smtClean="0"/>
              <a:t>3/4/2026</a:t>
            </a:fld>
            <a:endParaRPr lang="en-US"/>
          </a:p>
        </p:txBody>
      </p:sp>
      <p:sp>
        <p:nvSpPr>
          <p:cNvPr id="5" name="Footer Placeholder 4">
            <a:extLst>
              <a:ext uri="{FF2B5EF4-FFF2-40B4-BE49-F238E27FC236}">
                <a16:creationId xmlns="" xmlns:a16="http://schemas.microsoft.com/office/drawing/2014/main" id="{FC5046F2-4CE4-BBF5-6D8A-2754855376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 xmlns:a16="http://schemas.microsoft.com/office/drawing/2014/main" id="{34D89694-8109-AFF7-FE91-70786D7C22D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02D81F8-24BF-4C5A-88D3-ADBC450B7CC9}" type="slidenum">
              <a:rPr lang="en-US" smtClean="0"/>
              <a:t>‹#›</a:t>
            </a:fld>
            <a:endParaRPr lang="en-US"/>
          </a:p>
        </p:txBody>
      </p:sp>
    </p:spTree>
    <p:extLst>
      <p:ext uri="{BB962C8B-B14F-4D97-AF65-F5344CB8AC3E}">
        <p14:creationId xmlns:p14="http://schemas.microsoft.com/office/powerpoint/2010/main" val="2867108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react.dev/"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nextjs.org/showcase"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449BB0B-B23F-176A-69BD-F506DDE68C78}"/>
              </a:ext>
            </a:extLst>
          </p:cNvPr>
          <p:cNvSpPr>
            <a:spLocks noGrp="1"/>
          </p:cNvSpPr>
          <p:nvPr>
            <p:ph type="ctrTitle"/>
          </p:nvPr>
        </p:nvSpPr>
        <p:spPr>
          <a:xfrm>
            <a:off x="1523997" y="1357313"/>
            <a:ext cx="9144000" cy="2387600"/>
          </a:xfrm>
        </p:spPr>
        <p:txBody>
          <a:bodyPr>
            <a:normAutofit/>
          </a:bodyPr>
          <a:lstStyle/>
          <a:p>
            <a:r>
              <a:rPr lang="en-US" sz="6600" dirty="0">
                <a:latin typeface="Aptos" panose="020B0004020202020204" pitchFamily="34" charset="0"/>
              </a:rPr>
              <a:t>Next.js</a:t>
            </a:r>
          </a:p>
        </p:txBody>
      </p:sp>
      <p:sp>
        <p:nvSpPr>
          <p:cNvPr id="3" name="Subtitle 2">
            <a:extLst>
              <a:ext uri="{FF2B5EF4-FFF2-40B4-BE49-F238E27FC236}">
                <a16:creationId xmlns="" xmlns:a16="http://schemas.microsoft.com/office/drawing/2014/main" id="{B1321667-1143-558F-4B17-109ED5834534}"/>
              </a:ext>
            </a:extLst>
          </p:cNvPr>
          <p:cNvSpPr>
            <a:spLocks noGrp="1"/>
          </p:cNvSpPr>
          <p:nvPr>
            <p:ph type="subTitle" idx="1"/>
          </p:nvPr>
        </p:nvSpPr>
        <p:spPr>
          <a:xfrm>
            <a:off x="3774618" y="4104941"/>
            <a:ext cx="4642757" cy="463776"/>
          </a:xfrm>
        </p:spPr>
        <p:txBody>
          <a:bodyPr>
            <a:normAutofit fontScale="85000" lnSpcReduction="10000"/>
          </a:bodyPr>
          <a:lstStyle/>
          <a:p>
            <a:r>
              <a:rPr lang="en-US" b="1" i="0" dirty="0">
                <a:solidFill>
                  <a:schemeClr val="tx1">
                    <a:lumMod val="65000"/>
                    <a:lumOff val="35000"/>
                  </a:schemeClr>
                </a:solidFill>
                <a:effectLst/>
                <a:latin typeface="Geist"/>
              </a:rPr>
              <a:t>The React Framework for the Web</a:t>
            </a:r>
          </a:p>
        </p:txBody>
      </p:sp>
      <p:pic>
        <p:nvPicPr>
          <p:cNvPr id="5" name="Picture 4" descr="A black background with a black square&#10;&#10;AI-generated content may be incorrect.">
            <a:extLst>
              <a:ext uri="{FF2B5EF4-FFF2-40B4-BE49-F238E27FC236}">
                <a16:creationId xmlns="" xmlns:a16="http://schemas.microsoft.com/office/drawing/2014/main" id="{6717CD25-98DC-E163-7DC4-1ABD0970C9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86386" y="647701"/>
            <a:ext cx="1419225" cy="1419225"/>
          </a:xfrm>
          <a:prstGeom prst="rect">
            <a:avLst/>
          </a:prstGeom>
        </p:spPr>
      </p:pic>
    </p:spTree>
    <p:extLst>
      <p:ext uri="{BB962C8B-B14F-4D97-AF65-F5344CB8AC3E}">
        <p14:creationId xmlns:p14="http://schemas.microsoft.com/office/powerpoint/2010/main" val="23625116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t>Birth</a:t>
            </a: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fontScale="85000" lnSpcReduction="10000"/>
          </a:bodyPr>
          <a:lstStyle/>
          <a:p>
            <a:pPr marL="0" indent="0">
              <a:lnSpc>
                <a:spcPct val="150000"/>
              </a:lnSpc>
              <a:buNone/>
            </a:pPr>
            <a:r>
              <a:rPr lang="en-US" sz="2400" dirty="0">
                <a:latin typeface="Arial" panose="020B0604020202020204" pitchFamily="34" charset="0"/>
                <a:cs typeface="Arial" panose="020B0604020202020204" pitchFamily="34" charset="0"/>
              </a:rPr>
              <a:t>Not too long ago, in 2015, </a:t>
            </a:r>
            <a:r>
              <a:rPr lang="en-US" sz="2400" b="1" dirty="0">
                <a:latin typeface="Arial" panose="020B0604020202020204" pitchFamily="34" charset="0"/>
                <a:cs typeface="Arial" panose="020B0604020202020204" pitchFamily="34" charset="0"/>
              </a:rPr>
              <a:t>React.js </a:t>
            </a:r>
            <a:r>
              <a:rPr lang="en-US" sz="2400" dirty="0">
                <a:latin typeface="Arial" panose="020B0604020202020204" pitchFamily="34" charset="0"/>
                <a:cs typeface="Arial" panose="020B0604020202020204" pitchFamily="34" charset="0"/>
              </a:rPr>
              <a:t>entered the scene. However, even the journey of JavaScript in the IT industry hasn't been exceptionally long. Originally developed by Brenden </a:t>
            </a:r>
            <a:r>
              <a:rPr lang="en-US" sz="2400" dirty="0" err="1">
                <a:latin typeface="Arial" panose="020B0604020202020204" pitchFamily="34" charset="0"/>
                <a:cs typeface="Arial" panose="020B0604020202020204" pitchFamily="34" charset="0"/>
              </a:rPr>
              <a:t>Eich</a:t>
            </a:r>
            <a:r>
              <a:rPr lang="en-US" sz="2400" dirty="0">
                <a:latin typeface="Arial" panose="020B0604020202020204" pitchFamily="34" charset="0"/>
                <a:cs typeface="Arial" panose="020B0604020202020204" pitchFamily="34" charset="0"/>
              </a:rPr>
              <a:t> at Netscape in 1995, </a:t>
            </a:r>
            <a:r>
              <a:rPr lang="en-US" sz="2400" dirty="0">
                <a:highlight>
                  <a:srgbClr val="FFFF00"/>
                </a:highlight>
                <a:latin typeface="Arial" panose="020B0604020202020204" pitchFamily="34" charset="0"/>
                <a:cs typeface="Arial" panose="020B0604020202020204" pitchFamily="34" charset="0"/>
              </a:rPr>
              <a:t>JavaScript</a:t>
            </a:r>
            <a:r>
              <a:rPr lang="en-US" sz="2400" dirty="0">
                <a:latin typeface="Arial" panose="020B0604020202020204" pitchFamily="34" charset="0"/>
                <a:cs typeface="Arial" panose="020B0604020202020204" pitchFamily="34" charset="0"/>
              </a:rPr>
              <a:t> gained significant popularity during the 2000s. </a:t>
            </a:r>
          </a:p>
          <a:p>
            <a:pPr marL="0" indent="0">
              <a:lnSpc>
                <a:spcPct val="150000"/>
              </a:lnSpc>
              <a:buNone/>
            </a:pPr>
            <a:r>
              <a:rPr lang="en-US" sz="2400" dirty="0">
                <a:latin typeface="Arial" panose="020B0604020202020204" pitchFamily="34" charset="0"/>
                <a:cs typeface="Arial" panose="020B0604020202020204" pitchFamily="34" charset="0"/>
              </a:rPr>
              <a:t>This was largely due to Google's ingenious utilization of JavaScript to introduce interactive and dynamic features for map exploration. Subsequently, developers were introduced to frameworks and libraries, including jQuery, Angular, Node.js, React.js, and, most recently, Next.js. These technologies have revolutionized the web development landscape, offering developers various capabilities and possibilities.</a:t>
            </a:r>
          </a:p>
        </p:txBody>
      </p:sp>
    </p:spTree>
    <p:extLst>
      <p:ext uri="{BB962C8B-B14F-4D97-AF65-F5344CB8AC3E}">
        <p14:creationId xmlns:p14="http://schemas.microsoft.com/office/powerpoint/2010/main" val="33127137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t>Birth</a:t>
            </a: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a:bodyPr>
          <a:lstStyle/>
          <a:p>
            <a:pPr marL="0" indent="0">
              <a:lnSpc>
                <a:spcPct val="150000"/>
              </a:lnSpc>
              <a:buNone/>
            </a:pPr>
            <a:r>
              <a:rPr lang="en-US" sz="2000" dirty="0"/>
              <a:t>You might wonder </a:t>
            </a:r>
            <a:r>
              <a:rPr lang="en-US" sz="2000" dirty="0">
                <a:solidFill>
                  <a:srgbClr val="C00000"/>
                </a:solidFill>
              </a:rPr>
              <a:t>why this information is relevant in the context</a:t>
            </a:r>
            <a:r>
              <a:rPr lang="en-US" sz="2000" dirty="0"/>
              <a:t>. The significance lies in the fact that it highlights the timeless truth that "change is constant." As we continue to advance and evolve as a society, our tools and technologies will naturally progress alongside us. </a:t>
            </a:r>
            <a:r>
              <a:rPr lang="en-US" sz="2000" dirty="0" smtClean="0"/>
              <a:t>These </a:t>
            </a:r>
            <a:r>
              <a:rPr lang="en-US" sz="2000" dirty="0"/>
              <a:t>technologies and tools share a common purpose: to enhance work efficiency and improve performance. In this era, we can still use vanilla JavaScript or create websites using HTML and CSS without a doubt</a:t>
            </a:r>
          </a:p>
          <a:p>
            <a:pPr marL="0" indent="0">
              <a:lnSpc>
                <a:spcPct val="150000"/>
              </a:lnSpc>
              <a:buNone/>
            </a:pP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567618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t>Birth</a:t>
            </a: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a:bodyPr>
          <a:lstStyle/>
          <a:p>
            <a:pPr marL="0" indent="0">
              <a:lnSpc>
                <a:spcPct val="150000"/>
              </a:lnSpc>
              <a:buNone/>
            </a:pPr>
            <a:r>
              <a:rPr lang="en-US" sz="2000" dirty="0"/>
              <a:t>However, when it comes to developing applications on a large scale, the efficiency of using the latest technologies surpasses that of traditional approaches. </a:t>
            </a:r>
            <a:r>
              <a:rPr lang="en-US" sz="2000" dirty="0" smtClean="0"/>
              <a:t>Here </a:t>
            </a:r>
            <a:r>
              <a:rPr lang="en-US" sz="2000" dirty="0"/>
              <a:t>is a well-known code snippet implemented in various frameworks, starting from the core JavaScript language itself — The Hello World:</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3303813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370AC796-2B0D-BE27-3BC4-208AE64C59D8}"/>
              </a:ext>
            </a:extLst>
          </p:cNvPr>
          <p:cNvPicPr>
            <a:picLocks noChangeAspect="1"/>
          </p:cNvPicPr>
          <p:nvPr/>
        </p:nvPicPr>
        <p:blipFill>
          <a:blip r:embed="rId2"/>
          <a:stretch>
            <a:fillRect/>
          </a:stretch>
        </p:blipFill>
        <p:spPr>
          <a:xfrm>
            <a:off x="2571326" y="1032707"/>
            <a:ext cx="7049348" cy="4792586"/>
          </a:xfrm>
          <a:prstGeom prst="rect">
            <a:avLst/>
          </a:prstGeom>
        </p:spPr>
      </p:pic>
    </p:spTree>
    <p:extLst>
      <p:ext uri="{BB962C8B-B14F-4D97-AF65-F5344CB8AC3E}">
        <p14:creationId xmlns:p14="http://schemas.microsoft.com/office/powerpoint/2010/main" val="347212618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 xmlns:a16="http://schemas.microsoft.com/office/drawing/2014/main" id="{75426949-9F33-6CED-4601-08B91EDAAB69}"/>
              </a:ext>
            </a:extLst>
          </p:cNvPr>
          <p:cNvPicPr>
            <a:picLocks noChangeAspect="1"/>
          </p:cNvPicPr>
          <p:nvPr/>
        </p:nvPicPr>
        <p:blipFill>
          <a:blip r:embed="rId2"/>
          <a:stretch>
            <a:fillRect/>
          </a:stretch>
        </p:blipFill>
        <p:spPr>
          <a:xfrm>
            <a:off x="3490549" y="842601"/>
            <a:ext cx="5210902" cy="5172797"/>
          </a:xfrm>
          <a:prstGeom prst="rect">
            <a:avLst/>
          </a:prstGeom>
        </p:spPr>
      </p:pic>
    </p:spTree>
    <p:extLst>
      <p:ext uri="{BB962C8B-B14F-4D97-AF65-F5344CB8AC3E}">
        <p14:creationId xmlns:p14="http://schemas.microsoft.com/office/powerpoint/2010/main" val="87146206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t>Birth</a:t>
            </a: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a:bodyPr>
          <a:lstStyle/>
          <a:p>
            <a:pPr marL="0" indent="0">
              <a:lnSpc>
                <a:spcPct val="150000"/>
              </a:lnSpc>
              <a:buNone/>
            </a:pPr>
            <a:r>
              <a:rPr lang="en-US" sz="2000" dirty="0"/>
              <a:t>However, </a:t>
            </a:r>
            <a:r>
              <a:rPr lang="en-US" sz="2000" dirty="0">
                <a:solidFill>
                  <a:srgbClr val="C00000"/>
                </a:solidFill>
              </a:rPr>
              <a:t>it's important to consider the bigger picture</a:t>
            </a:r>
            <a:r>
              <a:rPr lang="en-US" sz="2000" dirty="0"/>
              <a:t>. And that's what truly matters, doesn't it? In reality, we don't just build "Hello World" projects. We undertake more substantial projects that demand the utilization of various frameworks and tools to achieve the desired functionality and scalability.</a:t>
            </a:r>
          </a:p>
          <a:p>
            <a:pPr marL="0" indent="0">
              <a:lnSpc>
                <a:spcPct val="150000"/>
              </a:lnSpc>
              <a:buNone/>
            </a:pPr>
            <a:r>
              <a:rPr lang="en-US" sz="2000" dirty="0"/>
              <a:t>It is worth mentioning a few foundational reasons </a:t>
            </a:r>
            <a:r>
              <a:rPr lang="en-US" sz="2000" dirty="0">
                <a:solidFill>
                  <a:srgbClr val="FF0000"/>
                </a:solidFill>
              </a:rPr>
              <a:t>why these new tools make development more efficient:</a:t>
            </a:r>
            <a:endParaRPr lang="en-US" sz="20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127831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967581"/>
            <a:ext cx="10515600" cy="4351338"/>
          </a:xfrm>
        </p:spPr>
        <p:txBody>
          <a:bodyPr>
            <a:noAutofit/>
          </a:bodyPr>
          <a:lstStyle/>
          <a:p>
            <a:pPr marL="0" indent="0">
              <a:lnSpc>
                <a:spcPct val="150000"/>
              </a:lnSpc>
              <a:buNone/>
            </a:pPr>
            <a:r>
              <a:rPr lang="en-US" sz="1800" b="1" dirty="0">
                <a:solidFill>
                  <a:schemeClr val="tx2">
                    <a:lumMod val="75000"/>
                    <a:lumOff val="25000"/>
                  </a:schemeClr>
                </a:solidFill>
              </a:rPr>
              <a:t>Architecture</a:t>
            </a:r>
            <a:r>
              <a:rPr lang="en-US" sz="1800" dirty="0"/>
              <a:t> — React and Angular follow a Component-Based Architecture, encouraging code reusability. For instance, if you create a component like a Button, you can use it anywhere in the application as often as needed. This reusability enhances the maintainability and scalability of the application. </a:t>
            </a:r>
          </a:p>
          <a:p>
            <a:pPr marL="0" indent="0">
              <a:lnSpc>
                <a:spcPct val="150000"/>
              </a:lnSpc>
              <a:buNone/>
            </a:pPr>
            <a:r>
              <a:rPr lang="en-US" sz="1800" b="1" dirty="0">
                <a:solidFill>
                  <a:schemeClr val="tx2">
                    <a:lumMod val="75000"/>
                    <a:lumOff val="25000"/>
                  </a:schemeClr>
                </a:solidFill>
              </a:rPr>
              <a:t>Virtual DOM </a:t>
            </a:r>
            <a:r>
              <a:rPr lang="en-US" sz="1800" dirty="0"/>
              <a:t>— The Virtual DOM is a lightweight representation of the actual DOM. It facilitates efficient and optimized updates to the user interface, resulting in improved performance. Simply put, it tracks changes within the application and performs a "diffing" process by comparing the previous version of the virtual DOM with the new version. It identifies the differences and updates the real DOM accordingly. </a:t>
            </a:r>
          </a:p>
          <a:p>
            <a:pPr marL="0" indent="0">
              <a:lnSpc>
                <a:spcPct val="150000"/>
              </a:lnSpc>
              <a:buNone/>
            </a:pPr>
            <a:r>
              <a:rPr lang="en-US" sz="1800" b="1" dirty="0">
                <a:solidFill>
                  <a:schemeClr val="tx2">
                    <a:lumMod val="75000"/>
                    <a:lumOff val="25000"/>
                  </a:schemeClr>
                </a:solidFill>
              </a:rPr>
              <a:t>Ecosystem &amp; Community </a:t>
            </a:r>
            <a:r>
              <a:rPr lang="en-US" sz="1800" dirty="0"/>
              <a:t>— Modern libraries like React.js have vibrant and active communities. This provides developers with abundant resources, extensive documentation, reusable code packages, bug fixes, and support.</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136137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solidFill>
                  <a:schemeClr val="tx2">
                    <a:lumMod val="75000"/>
                    <a:lumOff val="25000"/>
                  </a:schemeClr>
                </a:solidFill>
              </a:rPr>
              <a:t>But hey, where does Next.js come in the picture?</a:t>
            </a: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a:bodyPr>
          <a:lstStyle/>
          <a:p>
            <a:pPr marL="0" indent="0">
              <a:lnSpc>
                <a:spcPct val="150000"/>
              </a:lnSpc>
              <a:buNone/>
            </a:pPr>
            <a:r>
              <a:rPr lang="en-US" sz="2000" dirty="0"/>
              <a:t>As mentioned earlier, as we continue to progress, technology also advances. jQuery addressed the limitations of vanilla JavaScript, and then React.js emerged to overcome the shortcomings and loopholes of jQuery. However, even React.js has its own challenges, which have now been addressed by another tool called Next.js</a:t>
            </a:r>
            <a:r>
              <a:rPr lang="en-US" sz="2000" dirty="0">
                <a:solidFill>
                  <a:schemeClr val="bg1"/>
                </a:solidFill>
              </a:rPr>
              <a:t>. </a:t>
            </a:r>
            <a:r>
              <a:rPr lang="en-US" sz="2000" dirty="0">
                <a:solidFill>
                  <a:schemeClr val="bg1"/>
                </a:solidFill>
                <a:highlight>
                  <a:srgbClr val="FF0000"/>
                </a:highlight>
              </a:rPr>
              <a:t>It’s a big misconception that Next.js is a new language or library</a:t>
            </a:r>
            <a:r>
              <a:rPr lang="en-US" sz="2000" dirty="0"/>
              <a:t>. No!</a:t>
            </a:r>
          </a:p>
          <a:p>
            <a:pPr marL="0" indent="0">
              <a:lnSpc>
                <a:spcPct val="150000"/>
              </a:lnSpc>
              <a:buNone/>
            </a:pPr>
            <a:r>
              <a:rPr lang="en-US" sz="2000" dirty="0" err="1"/>
              <a:t>Vercel</a:t>
            </a:r>
            <a:r>
              <a:rPr lang="en-US" sz="2000" dirty="0"/>
              <a:t>, the team behind Next.js, embarked on a unique approach to develop a framework encompassing </a:t>
            </a:r>
            <a:r>
              <a:rPr lang="en-US" sz="2000" b="1" dirty="0"/>
              <a:t>client-side</a:t>
            </a:r>
            <a:r>
              <a:rPr lang="en-US" sz="2000" dirty="0"/>
              <a:t> (frontend) and </a:t>
            </a:r>
            <a:r>
              <a:rPr lang="en-US" sz="2000" b="1" dirty="0" err="1"/>
              <a:t>serverside</a:t>
            </a:r>
            <a:r>
              <a:rPr lang="en-US" sz="2000" dirty="0"/>
              <a:t> (backend) functionalities within a single application.</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137553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199" y="1006731"/>
            <a:ext cx="10515600" cy="4351338"/>
          </a:xfrm>
        </p:spPr>
        <p:txBody>
          <a:bodyPr>
            <a:normAutofit/>
          </a:bodyPr>
          <a:lstStyle/>
          <a:p>
            <a:pPr marL="0" indent="0">
              <a:lnSpc>
                <a:spcPct val="150000"/>
              </a:lnSpc>
              <a:buNone/>
            </a:pPr>
            <a:r>
              <a:rPr lang="en-US" sz="2000" dirty="0"/>
              <a:t>The creators of React.js. Meta now explicitly recommends that developers use Next.js as their primary tool instead of relying solely on React.js.</a:t>
            </a:r>
          </a:p>
          <a:p>
            <a:pPr marL="0" indent="0">
              <a:lnSpc>
                <a:spcPct val="150000"/>
              </a:lnSpc>
              <a:buNone/>
            </a:pPr>
            <a:endParaRPr lang="en-US" sz="20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 xmlns:a16="http://schemas.microsoft.com/office/drawing/2014/main" id="{30C47378-FE66-B95A-3264-060DDC3BC116}"/>
              </a:ext>
            </a:extLst>
          </p:cNvPr>
          <p:cNvPicPr>
            <a:picLocks noChangeAspect="1"/>
          </p:cNvPicPr>
          <p:nvPr/>
        </p:nvPicPr>
        <p:blipFill>
          <a:blip r:embed="rId2"/>
          <a:stretch>
            <a:fillRect/>
          </a:stretch>
        </p:blipFill>
        <p:spPr>
          <a:xfrm>
            <a:off x="1399517" y="2672873"/>
            <a:ext cx="9392961" cy="2819794"/>
          </a:xfrm>
          <a:prstGeom prst="rect">
            <a:avLst/>
          </a:prstGeom>
        </p:spPr>
      </p:pic>
      <p:sp>
        <p:nvSpPr>
          <p:cNvPr id="9" name="TextBox 8">
            <a:extLst>
              <a:ext uri="{FF2B5EF4-FFF2-40B4-BE49-F238E27FC236}">
                <a16:creationId xmlns="" xmlns:a16="http://schemas.microsoft.com/office/drawing/2014/main" id="{AD998470-B825-CC86-CEEE-A4921717735C}"/>
              </a:ext>
            </a:extLst>
          </p:cNvPr>
          <p:cNvSpPr txBox="1"/>
          <p:nvPr/>
        </p:nvSpPr>
        <p:spPr>
          <a:xfrm>
            <a:off x="5509188" y="5620923"/>
            <a:ext cx="1517253" cy="507831"/>
          </a:xfrm>
          <a:prstGeom prst="rect">
            <a:avLst/>
          </a:prstGeom>
          <a:noFill/>
        </p:spPr>
        <p:txBody>
          <a:bodyPr wrap="square">
            <a:spAutoFit/>
          </a:bodyPr>
          <a:lstStyle/>
          <a:p>
            <a:pPr marL="0" indent="0">
              <a:lnSpc>
                <a:spcPct val="150000"/>
              </a:lnSpc>
              <a:buNone/>
            </a:pPr>
            <a:r>
              <a:rPr lang="en-US" dirty="0" err="1">
                <a:hlinkClick r:id="rId3"/>
              </a:rPr>
              <a:t>r</a:t>
            </a:r>
            <a:r>
              <a:rPr lang="en-US" sz="1800" dirty="0" err="1">
                <a:hlinkClick r:id="rId3"/>
              </a:rPr>
              <a:t>eact.dev</a:t>
            </a: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88270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t>Introduction</a:t>
            </a:r>
            <a:endParaRPr lang="en-US" dirty="0">
              <a:solidFill>
                <a:schemeClr val="tx2">
                  <a:lumMod val="75000"/>
                  <a:lumOff val="25000"/>
                </a:schemeClr>
              </a:solidFill>
            </a:endParaRP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fontScale="92500" lnSpcReduction="10000"/>
          </a:bodyPr>
          <a:lstStyle/>
          <a:p>
            <a:pPr marL="0" indent="0">
              <a:lnSpc>
                <a:spcPct val="150000"/>
              </a:lnSpc>
              <a:buNone/>
            </a:pPr>
            <a:r>
              <a:rPr lang="en-US" sz="2000" b="1" dirty="0"/>
              <a:t>Next.js </a:t>
            </a:r>
            <a:r>
              <a:rPr lang="en-US" sz="2000" dirty="0"/>
              <a:t>— </a:t>
            </a:r>
            <a:r>
              <a:rPr lang="en-US" sz="2000" b="1" dirty="0">
                <a:solidFill>
                  <a:schemeClr val="tx2">
                    <a:lumMod val="75000"/>
                    <a:lumOff val="25000"/>
                  </a:schemeClr>
                </a:solidFill>
              </a:rPr>
              <a:t>A flexible React Framework</a:t>
            </a:r>
            <a:r>
              <a:rPr lang="en-US" sz="2000" dirty="0"/>
              <a:t>. But what does that mean? In software development, a framework serves as a tool equipped with predefined rules and conventions that offer a structured approach to constructing an application. It provides an environment that outlines the overall architecture, design patterns, and workflows, allowing developers to focus on implementing specific application logic rather than dealing with low-level design.</a:t>
            </a:r>
          </a:p>
          <a:p>
            <a:pPr marL="0" indent="0">
              <a:lnSpc>
                <a:spcPct val="150000"/>
              </a:lnSpc>
              <a:buNone/>
            </a:pPr>
            <a:r>
              <a:rPr lang="en-US" sz="2000" dirty="0"/>
              <a:t>Simply put, a framework provides pre-built solutions for common functionalities such as integrating databases, managing routing, handling authentication, and more.</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549431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t>Introduction</a:t>
            </a:r>
            <a:endParaRPr lang="en-US" dirty="0">
              <a:solidFill>
                <a:schemeClr val="tx2">
                  <a:lumMod val="75000"/>
                  <a:lumOff val="25000"/>
                </a:schemeClr>
              </a:solidFill>
            </a:endParaRP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a:bodyPr>
          <a:lstStyle/>
          <a:p>
            <a:pPr marL="0" indent="0">
              <a:lnSpc>
                <a:spcPct val="150000"/>
              </a:lnSpc>
              <a:buNone/>
            </a:pPr>
            <a:r>
              <a:rPr lang="en-US" sz="2000" dirty="0"/>
              <a:t>In fact, the Vice President of </a:t>
            </a:r>
            <a:r>
              <a:rPr lang="en-US" sz="2000" dirty="0" err="1"/>
              <a:t>Vercel</a:t>
            </a:r>
            <a:r>
              <a:rPr lang="en-US" sz="2000" dirty="0"/>
              <a:t>, Lee Robinson, expressed the following viewpoint:</a:t>
            </a:r>
          </a:p>
          <a:p>
            <a:pPr marL="0" indent="0">
              <a:lnSpc>
                <a:spcPct val="150000"/>
              </a:lnSpc>
              <a:buNone/>
            </a:pPr>
            <a:endParaRPr lang="en-US" sz="20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 xmlns:a16="http://schemas.microsoft.com/office/drawing/2014/main" id="{A0FDFBD4-4766-606B-562A-203A9769B296}"/>
              </a:ext>
            </a:extLst>
          </p:cNvPr>
          <p:cNvPicPr>
            <a:picLocks noChangeAspect="1"/>
          </p:cNvPicPr>
          <p:nvPr/>
        </p:nvPicPr>
        <p:blipFill>
          <a:blip r:embed="rId2"/>
          <a:stretch>
            <a:fillRect/>
          </a:stretch>
        </p:blipFill>
        <p:spPr>
          <a:xfrm>
            <a:off x="1833176" y="3016251"/>
            <a:ext cx="8525648" cy="2473206"/>
          </a:xfrm>
          <a:prstGeom prst="rect">
            <a:avLst/>
          </a:prstGeom>
        </p:spPr>
      </p:pic>
    </p:spTree>
    <p:extLst>
      <p:ext uri="{BB962C8B-B14F-4D97-AF65-F5344CB8AC3E}">
        <p14:creationId xmlns:p14="http://schemas.microsoft.com/office/powerpoint/2010/main" val="386916064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t>Introduction</a:t>
            </a:r>
            <a:endParaRPr lang="en-US" dirty="0">
              <a:solidFill>
                <a:schemeClr val="tx2">
                  <a:lumMod val="75000"/>
                  <a:lumOff val="25000"/>
                </a:schemeClr>
              </a:solidFill>
            </a:endParaRP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a:bodyPr>
          <a:lstStyle/>
          <a:p>
            <a:pPr marL="0" indent="0">
              <a:lnSpc>
                <a:spcPct val="150000"/>
              </a:lnSpc>
              <a:buNone/>
            </a:pPr>
            <a:r>
              <a:rPr lang="en-US" sz="2000" i="1" dirty="0"/>
              <a:t>Hmm, alright</a:t>
            </a:r>
            <a:r>
              <a:rPr lang="en-US" sz="2000" dirty="0"/>
              <a:t>. I'm willing to trust your insights on the new features of Next.js and such. However, </a:t>
            </a:r>
            <a:r>
              <a:rPr lang="en-US" sz="2000" dirty="0">
                <a:solidFill>
                  <a:srgbClr val="C00000"/>
                </a:solidFill>
              </a:rPr>
              <a:t>is it actually being used by people? </a:t>
            </a:r>
            <a:r>
              <a:rPr lang="en-US" sz="2000" dirty="0"/>
              <a:t>Are companies actively seeking professionals with Next.js expertise? </a:t>
            </a:r>
            <a:r>
              <a:rPr lang="en-US" sz="2000" dirty="0">
                <a:solidFill>
                  <a:srgbClr val="C00000"/>
                </a:solidFill>
              </a:rPr>
              <a:t>Is there a high demand for it in the industry?</a:t>
            </a:r>
            <a:r>
              <a:rPr lang="en-US" sz="2000" dirty="0"/>
              <a:t> — </a:t>
            </a:r>
            <a:r>
              <a:rPr lang="en-US" sz="2000" i="1" dirty="0"/>
              <a:t>Are you wondering the same? </a:t>
            </a:r>
            <a:r>
              <a:rPr lang="en-US" sz="2000" b="1" dirty="0">
                <a:solidFill>
                  <a:schemeClr val="tx2">
                    <a:lumMod val="90000"/>
                    <a:lumOff val="10000"/>
                  </a:schemeClr>
                </a:solidFill>
              </a:rPr>
              <a:t>Let the data speak for itself:</a:t>
            </a:r>
          </a:p>
          <a:p>
            <a:pPr marL="0" indent="0">
              <a:lnSpc>
                <a:spcPct val="150000"/>
              </a:lnSpc>
              <a:buNone/>
            </a:pPr>
            <a:endParaRPr lang="en-US" sz="2000" b="1" dirty="0">
              <a:solidFill>
                <a:schemeClr val="tx2">
                  <a:lumMod val="90000"/>
                  <a:lumOff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010172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 xmlns:a16="http://schemas.microsoft.com/office/drawing/2014/main" id="{8EBD81EA-8233-1ADC-C029-7A90E2FD97A2}"/>
              </a:ext>
            </a:extLst>
          </p:cNvPr>
          <p:cNvPicPr>
            <a:picLocks noGrp="1" noChangeAspect="1"/>
          </p:cNvPicPr>
          <p:nvPr>
            <p:ph idx="1"/>
          </p:nvPr>
        </p:nvPicPr>
        <p:blipFill>
          <a:blip r:embed="rId2"/>
          <a:stretch>
            <a:fillRect/>
          </a:stretch>
        </p:blipFill>
        <p:spPr>
          <a:xfrm>
            <a:off x="1196563" y="726394"/>
            <a:ext cx="9798874" cy="5405211"/>
          </a:xfrm>
        </p:spPr>
      </p:pic>
    </p:spTree>
    <p:extLst>
      <p:ext uri="{BB962C8B-B14F-4D97-AF65-F5344CB8AC3E}">
        <p14:creationId xmlns:p14="http://schemas.microsoft.com/office/powerpoint/2010/main" val="158429329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t>Introduction</a:t>
            </a:r>
            <a:endParaRPr lang="en-US" dirty="0">
              <a:solidFill>
                <a:schemeClr val="tx2">
                  <a:lumMod val="75000"/>
                  <a:lumOff val="25000"/>
                </a:schemeClr>
              </a:solidFill>
            </a:endParaRP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a:bodyPr>
          <a:lstStyle/>
          <a:p>
            <a:pPr marL="0" indent="0">
              <a:lnSpc>
                <a:spcPct val="150000"/>
              </a:lnSpc>
              <a:buNone/>
            </a:pPr>
            <a:r>
              <a:rPr lang="en-US" sz="2000" dirty="0"/>
              <a:t>In the past 30 days, Next.js has received significantly higher search interest worldwide than React.js. But hey, that’s just a Google trend. What about the industry? Are people even creating websites using Next.js?</a:t>
            </a:r>
          </a:p>
          <a:p>
            <a:pPr marL="0" indent="0">
              <a:lnSpc>
                <a:spcPct val="150000"/>
              </a:lnSpc>
              <a:buNone/>
            </a:pPr>
            <a:r>
              <a:rPr lang="en-US" sz="2000" dirty="0"/>
              <a:t>Sure, let’s take a look at “The Next.js Showcase” which shows different companies using Next.js:</a:t>
            </a:r>
          </a:p>
          <a:p>
            <a:pPr marL="0" indent="0">
              <a:lnSpc>
                <a:spcPct val="150000"/>
              </a:lnSpc>
              <a:buNone/>
            </a:pPr>
            <a:r>
              <a:rPr lang="en-US" sz="2000" b="1" dirty="0">
                <a:solidFill>
                  <a:schemeClr val="tx2">
                    <a:lumMod val="90000"/>
                    <a:lumOff val="10000"/>
                  </a:schemeClr>
                </a:solidFill>
                <a:latin typeface="Arial" panose="020B0604020202020204" pitchFamily="34" charset="0"/>
                <a:cs typeface="Arial" panose="020B0604020202020204" pitchFamily="34" charset="0"/>
              </a:rPr>
              <a:t>Head over </a:t>
            </a:r>
            <a:r>
              <a:rPr lang="en-US" sz="2000" b="1" dirty="0">
                <a:solidFill>
                  <a:schemeClr val="tx2">
                    <a:lumMod val="90000"/>
                    <a:lumOff val="10000"/>
                  </a:schemeClr>
                </a:solidFill>
                <a:latin typeface="Arial" panose="020B0604020202020204" pitchFamily="34" charset="0"/>
                <a:cs typeface="Arial" panose="020B0604020202020204" pitchFamily="34" charset="0"/>
                <a:hlinkClick r:id="rId2"/>
              </a:rPr>
              <a:t>nextjs.org/showcase</a:t>
            </a:r>
            <a:endParaRPr lang="en-US" sz="2000" b="1" dirty="0">
              <a:solidFill>
                <a:schemeClr val="tx2">
                  <a:lumMod val="90000"/>
                  <a:lumOff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79450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t>Roadmap</a:t>
            </a:r>
            <a:endParaRPr lang="en-US" dirty="0">
              <a:solidFill>
                <a:schemeClr val="tx2">
                  <a:lumMod val="75000"/>
                  <a:lumOff val="25000"/>
                </a:schemeClr>
              </a:solidFill>
            </a:endParaRP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a:bodyPr>
          <a:lstStyle/>
          <a:p>
            <a:pPr marL="0" indent="0">
              <a:lnSpc>
                <a:spcPct val="150000"/>
              </a:lnSpc>
              <a:buNone/>
            </a:pPr>
            <a:r>
              <a:rPr lang="en-US" sz="2000" dirty="0"/>
              <a:t>Before we start exploring </a:t>
            </a:r>
            <a:r>
              <a:rPr lang="en-US" sz="2000" b="1" dirty="0"/>
              <a:t>Next.js</a:t>
            </a:r>
            <a:r>
              <a:rPr lang="en-US" sz="2000" dirty="0"/>
              <a:t>, reviewing or relearning some basic concepts is a good idea to make learning easier. It all begins with building a solid foundation through fundamentals. Think of this roadmap as a summary of what you should know as a foundation for learning Next.js. It's alright if you're unfamiliar with advanced topics like integrating databases or implementing authentication. </a:t>
            </a:r>
          </a:p>
          <a:p>
            <a:pPr marL="0" indent="0">
              <a:lnSpc>
                <a:spcPct val="150000"/>
              </a:lnSpc>
              <a:buNone/>
            </a:pPr>
            <a:r>
              <a:rPr lang="en-US" sz="2000" dirty="0"/>
              <a:t>These points help you understand the main concepts without focusing on specific coding details.</a:t>
            </a:r>
            <a:endParaRPr lang="en-US" sz="2000" b="1" dirty="0">
              <a:solidFill>
                <a:schemeClr val="tx2">
                  <a:lumMod val="90000"/>
                  <a:lumOff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1600357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b="1" dirty="0">
                <a:solidFill>
                  <a:schemeClr val="tx2">
                    <a:lumMod val="90000"/>
                    <a:lumOff val="10000"/>
                  </a:schemeClr>
                </a:solidFill>
              </a:rPr>
              <a:t>1- Web Development Fundamentals</a:t>
            </a:r>
          </a:p>
        </p:txBody>
      </p:sp>
      <p:pic>
        <p:nvPicPr>
          <p:cNvPr id="5" name="Content Placeholder 4">
            <a:extLst>
              <a:ext uri="{FF2B5EF4-FFF2-40B4-BE49-F238E27FC236}">
                <a16:creationId xmlns="" xmlns:a16="http://schemas.microsoft.com/office/drawing/2014/main" id="{AF0251AF-38F9-8656-4546-4BACF8666299}"/>
              </a:ext>
            </a:extLst>
          </p:cNvPr>
          <p:cNvPicPr>
            <a:picLocks noGrp="1" noChangeAspect="1"/>
          </p:cNvPicPr>
          <p:nvPr>
            <p:ph idx="1"/>
          </p:nvPr>
        </p:nvPicPr>
        <p:blipFill>
          <a:blip r:embed="rId2"/>
          <a:stretch>
            <a:fillRect/>
          </a:stretch>
        </p:blipFill>
        <p:spPr>
          <a:xfrm>
            <a:off x="756559" y="1791178"/>
            <a:ext cx="7412884" cy="4585129"/>
          </a:xfrm>
        </p:spPr>
      </p:pic>
    </p:spTree>
    <p:extLst>
      <p:ext uri="{BB962C8B-B14F-4D97-AF65-F5344CB8AC3E}">
        <p14:creationId xmlns:p14="http://schemas.microsoft.com/office/powerpoint/2010/main" val="345390652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b="1" dirty="0">
                <a:solidFill>
                  <a:schemeClr val="tx2">
                    <a:lumMod val="50000"/>
                    <a:lumOff val="50000"/>
                  </a:schemeClr>
                </a:solidFill>
              </a:rPr>
              <a:t>1- Web Development Fundamentals</a:t>
            </a:r>
          </a:p>
        </p:txBody>
      </p:sp>
      <p:pic>
        <p:nvPicPr>
          <p:cNvPr id="7" name="Picture 6">
            <a:extLst>
              <a:ext uri="{FF2B5EF4-FFF2-40B4-BE49-F238E27FC236}">
                <a16:creationId xmlns="" xmlns:a16="http://schemas.microsoft.com/office/drawing/2014/main" id="{BA27F1E9-534F-8338-14F3-453E64F8887B}"/>
              </a:ext>
            </a:extLst>
          </p:cNvPr>
          <p:cNvPicPr>
            <a:picLocks noChangeAspect="1"/>
          </p:cNvPicPr>
          <p:nvPr/>
        </p:nvPicPr>
        <p:blipFill>
          <a:blip r:embed="rId2"/>
          <a:stretch>
            <a:fillRect/>
          </a:stretch>
        </p:blipFill>
        <p:spPr>
          <a:xfrm>
            <a:off x="838200" y="1786941"/>
            <a:ext cx="6399553" cy="4697473"/>
          </a:xfrm>
          <a:prstGeom prst="rect">
            <a:avLst/>
          </a:prstGeom>
        </p:spPr>
      </p:pic>
    </p:spTree>
    <p:extLst>
      <p:ext uri="{BB962C8B-B14F-4D97-AF65-F5344CB8AC3E}">
        <p14:creationId xmlns:p14="http://schemas.microsoft.com/office/powerpoint/2010/main" val="268044694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b="1" dirty="0">
                <a:solidFill>
                  <a:schemeClr val="tx2">
                    <a:lumMod val="50000"/>
                    <a:lumOff val="50000"/>
                  </a:schemeClr>
                </a:solidFill>
              </a:rPr>
              <a:t>1- Web Development Fundamentals</a:t>
            </a:r>
          </a:p>
        </p:txBody>
      </p:sp>
      <p:pic>
        <p:nvPicPr>
          <p:cNvPr id="4" name="Picture 3">
            <a:extLst>
              <a:ext uri="{FF2B5EF4-FFF2-40B4-BE49-F238E27FC236}">
                <a16:creationId xmlns="" xmlns:a16="http://schemas.microsoft.com/office/drawing/2014/main" id="{565C9CFD-1857-EAB4-B8AD-C1FD2F3DE3BD}"/>
              </a:ext>
            </a:extLst>
          </p:cNvPr>
          <p:cNvPicPr>
            <a:picLocks noChangeAspect="1"/>
          </p:cNvPicPr>
          <p:nvPr/>
        </p:nvPicPr>
        <p:blipFill>
          <a:blip r:embed="rId2"/>
          <a:stretch>
            <a:fillRect/>
          </a:stretch>
        </p:blipFill>
        <p:spPr>
          <a:xfrm>
            <a:off x="1024861" y="1690688"/>
            <a:ext cx="6311843" cy="4530498"/>
          </a:xfrm>
          <a:prstGeom prst="rect">
            <a:avLst/>
          </a:prstGeom>
        </p:spPr>
      </p:pic>
    </p:spTree>
    <p:extLst>
      <p:ext uri="{BB962C8B-B14F-4D97-AF65-F5344CB8AC3E}">
        <p14:creationId xmlns:p14="http://schemas.microsoft.com/office/powerpoint/2010/main" val="403889343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b="1" dirty="0">
                <a:solidFill>
                  <a:schemeClr val="tx2">
                    <a:lumMod val="50000"/>
                    <a:lumOff val="50000"/>
                  </a:schemeClr>
                </a:solidFill>
              </a:rPr>
              <a:t>2- The Ecosystem</a:t>
            </a:r>
          </a:p>
        </p:txBody>
      </p:sp>
      <p:pic>
        <p:nvPicPr>
          <p:cNvPr id="5" name="Picture 4">
            <a:extLst>
              <a:ext uri="{FF2B5EF4-FFF2-40B4-BE49-F238E27FC236}">
                <a16:creationId xmlns="" xmlns:a16="http://schemas.microsoft.com/office/drawing/2014/main" id="{E85B33FA-A67B-9D1E-2A99-E9C80E0772ED}"/>
              </a:ext>
            </a:extLst>
          </p:cNvPr>
          <p:cNvPicPr>
            <a:picLocks noChangeAspect="1"/>
          </p:cNvPicPr>
          <p:nvPr/>
        </p:nvPicPr>
        <p:blipFill>
          <a:blip r:embed="rId2"/>
          <a:stretch>
            <a:fillRect/>
          </a:stretch>
        </p:blipFill>
        <p:spPr>
          <a:xfrm>
            <a:off x="976544" y="1438423"/>
            <a:ext cx="6159042" cy="4684791"/>
          </a:xfrm>
          <a:prstGeom prst="rect">
            <a:avLst/>
          </a:prstGeom>
        </p:spPr>
      </p:pic>
    </p:spTree>
    <p:extLst>
      <p:ext uri="{BB962C8B-B14F-4D97-AF65-F5344CB8AC3E}">
        <p14:creationId xmlns:p14="http://schemas.microsoft.com/office/powerpoint/2010/main" val="400338362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b="1" dirty="0">
                <a:solidFill>
                  <a:schemeClr val="tx2">
                    <a:lumMod val="50000"/>
                    <a:lumOff val="50000"/>
                  </a:schemeClr>
                </a:solidFill>
              </a:rPr>
              <a:t>3- React JS</a:t>
            </a:r>
          </a:p>
        </p:txBody>
      </p:sp>
      <p:pic>
        <p:nvPicPr>
          <p:cNvPr id="4" name="Picture 3">
            <a:extLst>
              <a:ext uri="{FF2B5EF4-FFF2-40B4-BE49-F238E27FC236}">
                <a16:creationId xmlns="" xmlns:a16="http://schemas.microsoft.com/office/drawing/2014/main" id="{8D6D3F34-3896-106F-F5FD-8260A1D36CCF}"/>
              </a:ext>
            </a:extLst>
          </p:cNvPr>
          <p:cNvPicPr>
            <a:picLocks noChangeAspect="1"/>
          </p:cNvPicPr>
          <p:nvPr/>
        </p:nvPicPr>
        <p:blipFill>
          <a:blip r:embed="rId2"/>
          <a:stretch>
            <a:fillRect/>
          </a:stretch>
        </p:blipFill>
        <p:spPr>
          <a:xfrm>
            <a:off x="604908" y="1463252"/>
            <a:ext cx="7259738" cy="5029623"/>
          </a:xfrm>
          <a:prstGeom prst="rect">
            <a:avLst/>
          </a:prstGeom>
        </p:spPr>
      </p:pic>
    </p:spTree>
    <p:extLst>
      <p:ext uri="{BB962C8B-B14F-4D97-AF65-F5344CB8AC3E}">
        <p14:creationId xmlns:p14="http://schemas.microsoft.com/office/powerpoint/2010/main" val="319325035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b="1" dirty="0">
                <a:solidFill>
                  <a:schemeClr val="tx2">
                    <a:lumMod val="50000"/>
                    <a:lumOff val="50000"/>
                  </a:schemeClr>
                </a:solidFill>
              </a:rPr>
              <a:t>4- Backend</a:t>
            </a:r>
          </a:p>
        </p:txBody>
      </p:sp>
      <p:pic>
        <p:nvPicPr>
          <p:cNvPr id="5" name="Picture 4">
            <a:extLst>
              <a:ext uri="{FF2B5EF4-FFF2-40B4-BE49-F238E27FC236}">
                <a16:creationId xmlns="" xmlns:a16="http://schemas.microsoft.com/office/drawing/2014/main" id="{D0941EAF-0ECD-13DA-EE39-1528BA43D57E}"/>
              </a:ext>
            </a:extLst>
          </p:cNvPr>
          <p:cNvPicPr>
            <a:picLocks noChangeAspect="1"/>
          </p:cNvPicPr>
          <p:nvPr/>
        </p:nvPicPr>
        <p:blipFill>
          <a:blip r:embed="rId2"/>
          <a:stretch>
            <a:fillRect/>
          </a:stretch>
        </p:blipFill>
        <p:spPr>
          <a:xfrm>
            <a:off x="838200" y="1412420"/>
            <a:ext cx="5954486" cy="4997631"/>
          </a:xfrm>
          <a:prstGeom prst="rect">
            <a:avLst/>
          </a:prstGeom>
        </p:spPr>
      </p:pic>
    </p:spTree>
    <p:extLst>
      <p:ext uri="{BB962C8B-B14F-4D97-AF65-F5344CB8AC3E}">
        <p14:creationId xmlns:p14="http://schemas.microsoft.com/office/powerpoint/2010/main" val="158864351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b="1" dirty="0">
                <a:solidFill>
                  <a:schemeClr val="tx2">
                    <a:lumMod val="50000"/>
                    <a:lumOff val="50000"/>
                  </a:schemeClr>
                </a:solidFill>
              </a:rPr>
              <a:t>5- The Next.js</a:t>
            </a:r>
          </a:p>
        </p:txBody>
      </p:sp>
      <p:pic>
        <p:nvPicPr>
          <p:cNvPr id="4" name="Picture 3">
            <a:extLst>
              <a:ext uri="{FF2B5EF4-FFF2-40B4-BE49-F238E27FC236}">
                <a16:creationId xmlns="" xmlns:a16="http://schemas.microsoft.com/office/drawing/2014/main" id="{1B2481B9-F3E9-6810-4BCC-15E5330D94D2}"/>
              </a:ext>
            </a:extLst>
          </p:cNvPr>
          <p:cNvPicPr>
            <a:picLocks noChangeAspect="1"/>
          </p:cNvPicPr>
          <p:nvPr/>
        </p:nvPicPr>
        <p:blipFill>
          <a:blip r:embed="rId2"/>
          <a:stretch>
            <a:fillRect/>
          </a:stretch>
        </p:blipFill>
        <p:spPr>
          <a:xfrm>
            <a:off x="1010390" y="1420585"/>
            <a:ext cx="7269336" cy="4755422"/>
          </a:xfrm>
          <a:prstGeom prst="rect">
            <a:avLst/>
          </a:prstGeom>
        </p:spPr>
      </p:pic>
    </p:spTree>
    <p:extLst>
      <p:ext uri="{BB962C8B-B14F-4D97-AF65-F5344CB8AC3E}">
        <p14:creationId xmlns:p14="http://schemas.microsoft.com/office/powerpoint/2010/main" val="38093849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C7C786B-E469-7AC3-761B-D66D6866B1FF}"/>
              </a:ext>
            </a:extLst>
          </p:cNvPr>
          <p:cNvSpPr>
            <a:spLocks noGrp="1"/>
          </p:cNvSpPr>
          <p:nvPr>
            <p:ph type="ctrTitle"/>
          </p:nvPr>
        </p:nvSpPr>
        <p:spPr>
          <a:xfrm>
            <a:off x="1524000" y="1041400"/>
            <a:ext cx="9144000" cy="2387600"/>
          </a:xfrm>
        </p:spPr>
        <p:txBody>
          <a:bodyPr/>
          <a:lstStyle/>
          <a:p>
            <a:r>
              <a:rPr lang="en-US" dirty="0">
                <a:latin typeface="Arial Black" panose="020B0A04020102020204" pitchFamily="34" charset="0"/>
              </a:rPr>
              <a:t>How it works</a:t>
            </a:r>
          </a:p>
        </p:txBody>
      </p:sp>
      <p:sp>
        <p:nvSpPr>
          <p:cNvPr id="3" name="Subtitle 2">
            <a:extLst>
              <a:ext uri="{FF2B5EF4-FFF2-40B4-BE49-F238E27FC236}">
                <a16:creationId xmlns="" xmlns:a16="http://schemas.microsoft.com/office/drawing/2014/main" id="{81FCE51B-7F90-0A36-6932-76558C5259F8}"/>
              </a:ext>
            </a:extLst>
          </p:cNvPr>
          <p:cNvSpPr>
            <a:spLocks noGrp="1"/>
          </p:cNvSpPr>
          <p:nvPr>
            <p:ph type="subTitle" idx="1"/>
          </p:nvPr>
        </p:nvSpPr>
        <p:spPr/>
        <p:txBody>
          <a:bodyPr/>
          <a:lstStyle/>
          <a:p>
            <a:r>
              <a:rPr lang="en-US" dirty="0">
                <a:solidFill>
                  <a:schemeClr val="tx1">
                    <a:lumMod val="65000"/>
                    <a:lumOff val="35000"/>
                  </a:schemeClr>
                </a:solidFill>
              </a:rPr>
              <a:t>Let’s time-travel a bit to see how things were used to work with different technologies.</a:t>
            </a:r>
          </a:p>
        </p:txBody>
      </p:sp>
    </p:spTree>
    <p:extLst>
      <p:ext uri="{BB962C8B-B14F-4D97-AF65-F5344CB8AC3E}">
        <p14:creationId xmlns:p14="http://schemas.microsoft.com/office/powerpoint/2010/main" val="427307185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a:xfrm>
            <a:off x="838199" y="267153"/>
            <a:ext cx="10515600" cy="1325563"/>
          </a:xfrm>
        </p:spPr>
        <p:txBody>
          <a:bodyPr/>
          <a:lstStyle/>
          <a:p>
            <a:r>
              <a:rPr lang="en-US" dirty="0"/>
              <a:t>The vanilla — HTML, CSS, and JavaScript</a:t>
            </a:r>
            <a:endParaRPr lang="en-US" b="1" dirty="0">
              <a:solidFill>
                <a:schemeClr val="tx2">
                  <a:lumMod val="90000"/>
                  <a:lumOff val="10000"/>
                </a:schemeClr>
              </a:solidFill>
            </a:endParaRPr>
          </a:p>
        </p:txBody>
      </p:sp>
      <p:pic>
        <p:nvPicPr>
          <p:cNvPr id="5" name="Picture 4">
            <a:extLst>
              <a:ext uri="{FF2B5EF4-FFF2-40B4-BE49-F238E27FC236}">
                <a16:creationId xmlns="" xmlns:a16="http://schemas.microsoft.com/office/drawing/2014/main" id="{6D5B6F8E-3C52-995A-F9D1-88431B07D69D}"/>
              </a:ext>
            </a:extLst>
          </p:cNvPr>
          <p:cNvPicPr>
            <a:picLocks noChangeAspect="1"/>
          </p:cNvPicPr>
          <p:nvPr/>
        </p:nvPicPr>
        <p:blipFill>
          <a:blip r:embed="rId2"/>
          <a:stretch>
            <a:fillRect/>
          </a:stretch>
        </p:blipFill>
        <p:spPr>
          <a:xfrm>
            <a:off x="3087899" y="1709912"/>
            <a:ext cx="6016199" cy="4882155"/>
          </a:xfrm>
          <a:prstGeom prst="rect">
            <a:avLst/>
          </a:prstGeom>
        </p:spPr>
      </p:pic>
    </p:spTree>
    <p:extLst>
      <p:ext uri="{BB962C8B-B14F-4D97-AF65-F5344CB8AC3E}">
        <p14:creationId xmlns:p14="http://schemas.microsoft.com/office/powerpoint/2010/main" val="220131623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solidFill>
                  <a:schemeClr val="tx2">
                    <a:lumMod val="50000"/>
                    <a:lumOff val="50000"/>
                  </a:schemeClr>
                </a:solidFill>
                <a:latin typeface="Arial Black" panose="020B0A04020102020204" pitchFamily="34" charset="0"/>
              </a:rPr>
              <a:t>How it works</a:t>
            </a: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fontScale="92500"/>
          </a:bodyPr>
          <a:lstStyle/>
          <a:p>
            <a:pPr marL="0" indent="0">
              <a:lnSpc>
                <a:spcPct val="150000"/>
              </a:lnSpc>
              <a:buNone/>
            </a:pPr>
            <a:r>
              <a:rPr lang="en-US" sz="2000" dirty="0"/>
              <a:t>Traditionally, for each of these requests, the server responds by sending three files i.e., the HTML, CSS, and JavaScript (only if any JavaScript code is involved). The client's browser receives these files and begins by analyzing the HTML file. Then, it applies the styles from the CSS file and implements any user interaction, such as event handlers or dynamic behavior, specified in the JavaScript file on the webpage. The client will send additional requests to the server if the website has multiple pages. In response, the server will send the three files containing the respective content needed to render each page.</a:t>
            </a:r>
            <a:endParaRPr lang="en-US" sz="2000" b="1" dirty="0">
              <a:solidFill>
                <a:schemeClr val="tx2">
                  <a:lumMod val="90000"/>
                  <a:lumOff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2061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solidFill>
                  <a:schemeClr val="tx2">
                    <a:lumMod val="50000"/>
                    <a:lumOff val="50000"/>
                  </a:schemeClr>
                </a:solidFill>
                <a:latin typeface="Arial Black" panose="020B0A04020102020204" pitchFamily="34" charset="0"/>
              </a:rPr>
              <a:t>The React way</a:t>
            </a: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fontScale="92500"/>
          </a:bodyPr>
          <a:lstStyle/>
          <a:p>
            <a:pPr marL="0" indent="0">
              <a:lnSpc>
                <a:spcPct val="150000"/>
              </a:lnSpc>
              <a:buNone/>
            </a:pPr>
            <a:r>
              <a:rPr lang="en-US" sz="2000" dirty="0"/>
              <a:t>This is where React comes in. It improved the development lifecycle by introducing components, </a:t>
            </a:r>
            <a:r>
              <a:rPr lang="en-US" sz="2000" b="1" dirty="0"/>
              <a:t>virtual DOM concepts</a:t>
            </a:r>
            <a:r>
              <a:rPr lang="en-US" sz="2000" dirty="0"/>
              <a:t>, and the client-server mechanism. When you access a React website, the client's browser sends a request to the server for the webpage content. In response, the server sends a minimal HTML file, which serves as the entry point for the entire application, along with a bundled JavaScript file.</a:t>
            </a:r>
          </a:p>
          <a:p>
            <a:pPr marL="0" indent="0">
              <a:lnSpc>
                <a:spcPct val="150000"/>
              </a:lnSpc>
              <a:buNone/>
            </a:pPr>
            <a:r>
              <a:rPr lang="en-US" sz="2000" dirty="0"/>
              <a:t>React initiates </a:t>
            </a:r>
            <a:r>
              <a:rPr lang="en-US" sz="2000" dirty="0">
                <a:highlight>
                  <a:srgbClr val="FFFF00"/>
                </a:highlight>
              </a:rPr>
              <a:t>client-side rendering </a:t>
            </a:r>
            <a:r>
              <a:rPr lang="en-US" sz="2000" dirty="0"/>
              <a:t>using this JavaScript file, manipulating the virtual DOM. Instead of directly modifying the actual DOM, React updates the </a:t>
            </a:r>
            <a:r>
              <a:rPr lang="en-US" sz="2000" dirty="0" smtClean="0"/>
              <a:t>virtual.</a:t>
            </a:r>
            <a:endParaRPr lang="en-US" sz="2000" b="1" dirty="0">
              <a:solidFill>
                <a:schemeClr val="tx2">
                  <a:lumMod val="90000"/>
                  <a:lumOff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5077577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solidFill>
                  <a:schemeClr val="tx2">
                    <a:lumMod val="50000"/>
                    <a:lumOff val="50000"/>
                  </a:schemeClr>
                </a:solidFill>
                <a:latin typeface="Arial Black" panose="020B0A04020102020204" pitchFamily="34" charset="0"/>
              </a:rPr>
              <a:t>The React way</a:t>
            </a: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a:bodyPr>
          <a:lstStyle/>
          <a:p>
            <a:pPr marL="0" indent="0">
              <a:lnSpc>
                <a:spcPct val="150000"/>
              </a:lnSpc>
              <a:buNone/>
            </a:pPr>
            <a:r>
              <a:rPr lang="en-US" sz="2000" dirty="0"/>
              <a:t>React utilizes its client-side routing library, </a:t>
            </a:r>
            <a:r>
              <a:rPr lang="en-US" sz="2000" dirty="0">
                <a:highlight>
                  <a:srgbClr val="FFFF00"/>
                </a:highlight>
              </a:rPr>
              <a:t>React Router</a:t>
            </a:r>
            <a:r>
              <a:rPr lang="en-US" sz="2000" dirty="0"/>
              <a:t>, to navigate to different pages within the React application. This library enables changing the route without a full server request, preventing page refreshes. React Router re-renders the relevant components based on the new URL when a new route is triggered. If the new page requires fetching data from the server, the corresponding components initiate requests to retrieve the necessary data.</a:t>
            </a:r>
          </a:p>
          <a:p>
            <a:pPr marL="0" indent="0">
              <a:lnSpc>
                <a:spcPct val="150000"/>
              </a:lnSpc>
              <a:buNone/>
            </a:pPr>
            <a:endParaRPr lang="en-US" sz="2000" b="1" dirty="0">
              <a:solidFill>
                <a:schemeClr val="tx2">
                  <a:lumMod val="90000"/>
                  <a:lumOff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304132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solidFill>
                  <a:srgbClr val="C00000"/>
                </a:solidFill>
              </a:rPr>
              <a:t>What’s the catch?</a:t>
            </a: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519238"/>
            <a:ext cx="10515600" cy="4351338"/>
          </a:xfrm>
        </p:spPr>
        <p:txBody>
          <a:bodyPr>
            <a:normAutofit fontScale="85000" lnSpcReduction="10000"/>
          </a:bodyPr>
          <a:lstStyle/>
          <a:p>
            <a:pPr marL="0" indent="0">
              <a:lnSpc>
                <a:spcPct val="150000"/>
              </a:lnSpc>
              <a:buNone/>
            </a:pPr>
            <a:r>
              <a:rPr lang="en-US" sz="1600" b="1" dirty="0">
                <a:solidFill>
                  <a:schemeClr val="tx2">
                    <a:lumMod val="50000"/>
                    <a:lumOff val="50000"/>
                  </a:schemeClr>
                </a:solidFill>
              </a:rPr>
              <a:t>Complexity </a:t>
            </a:r>
            <a:r>
              <a:rPr lang="en-US" sz="1600" dirty="0"/>
              <a:t>Building a React application can present greater complexity than traditional HTML, CSS, and JavaScript websites. It involves thinking in components, managing state and props, and working with the virtual DOM, which may require a learning curve for developers new to React.js.</a:t>
            </a:r>
          </a:p>
          <a:p>
            <a:pPr marL="0" indent="0">
              <a:lnSpc>
                <a:spcPct val="150000"/>
              </a:lnSpc>
              <a:buNone/>
            </a:pPr>
            <a:r>
              <a:rPr lang="en-US" sz="1600" dirty="0"/>
              <a:t> </a:t>
            </a:r>
            <a:r>
              <a:rPr lang="en-US" sz="1600" b="1" dirty="0">
                <a:solidFill>
                  <a:schemeClr val="tx2">
                    <a:lumMod val="50000"/>
                    <a:lumOff val="50000"/>
                  </a:schemeClr>
                </a:solidFill>
              </a:rPr>
              <a:t>Processing</a:t>
            </a:r>
            <a:r>
              <a:rPr lang="en-US" sz="1600" dirty="0"/>
              <a:t> Similar to the traditional approach, react primarily performs client-side rendering. It heavily relies on JavaScript for initial rendering and subsequent requests to update the user interface, which are all handled on the client’s browser. However, this reliance on client-side rendering can delay rendering and interactivity, particularly on devices with slower processors and limited resources. </a:t>
            </a:r>
          </a:p>
          <a:p>
            <a:pPr marL="0" indent="0">
              <a:lnSpc>
                <a:spcPct val="150000"/>
              </a:lnSpc>
              <a:buNone/>
            </a:pPr>
            <a:r>
              <a:rPr lang="en-US" sz="1600" b="1" dirty="0">
                <a:solidFill>
                  <a:schemeClr val="tx2">
                    <a:lumMod val="50000"/>
                    <a:lumOff val="50000"/>
                  </a:schemeClr>
                </a:solidFill>
              </a:rPr>
              <a:t>SEO</a:t>
            </a:r>
            <a:r>
              <a:rPr lang="en-US" sz="1600" dirty="0"/>
              <a:t> Yes, if you recall, we previously touched upon a notable drawback of React compared to Next.js in the Introduction chapter. The issue is that search engine crawlers might need help fully accessing the website's content since everything is handled through JavaScript and only rendered on the client side. As a result, it impacts the website’s visibility in search engine results</a:t>
            </a:r>
            <a:endParaRPr lang="en-US" sz="1600" b="1" dirty="0">
              <a:solidFill>
                <a:schemeClr val="tx2">
                  <a:lumMod val="90000"/>
                  <a:lumOff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6488778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solidFill>
                  <a:schemeClr val="tx2">
                    <a:lumMod val="50000"/>
                    <a:lumOff val="50000"/>
                  </a:schemeClr>
                </a:solidFill>
                <a:latin typeface="Arial Black" panose="020B0A04020102020204" pitchFamily="34" charset="0"/>
              </a:rPr>
              <a:t>The Next.js Way - A blend of both</a:t>
            </a: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a:bodyPr>
          <a:lstStyle/>
          <a:p>
            <a:pPr marL="0" indent="0">
              <a:lnSpc>
                <a:spcPct val="150000"/>
              </a:lnSpc>
              <a:buNone/>
            </a:pPr>
            <a:r>
              <a:rPr lang="en-US" sz="2000" dirty="0"/>
              <a:t>Knowing the benefits and limitations of both techniques, </a:t>
            </a:r>
            <a:r>
              <a:rPr lang="en-US" sz="2000" b="1" dirty="0" err="1"/>
              <a:t>Vercel</a:t>
            </a:r>
            <a:r>
              <a:rPr lang="en-US" sz="2000" dirty="0"/>
              <a:t> developers allowed us to choose where to render the content, on the client or server. Typically, when a user visits a Next.js site, the client sends the request to the server, which starts executing the React Components, generates </a:t>
            </a:r>
            <a:r>
              <a:rPr lang="en-US" sz="2000" b="1" dirty="0">
                <a:solidFill>
                  <a:schemeClr val="accent2"/>
                </a:solidFill>
              </a:rPr>
              <a:t>HTML</a:t>
            </a:r>
            <a:r>
              <a:rPr lang="en-US" sz="2000" dirty="0"/>
              <a:t>, </a:t>
            </a:r>
            <a:r>
              <a:rPr lang="en-US" sz="2000" b="1" dirty="0">
                <a:solidFill>
                  <a:schemeClr val="tx2">
                    <a:lumMod val="50000"/>
                    <a:lumOff val="50000"/>
                  </a:schemeClr>
                </a:solidFill>
              </a:rPr>
              <a:t>CSS</a:t>
            </a:r>
            <a:r>
              <a:rPr lang="en-US" sz="2000" dirty="0"/>
              <a:t>, and </a:t>
            </a:r>
            <a:r>
              <a:rPr lang="en-US" sz="2000" b="1" dirty="0">
                <a:solidFill>
                  <a:srgbClr val="FFC000"/>
                </a:solidFill>
              </a:rPr>
              <a:t>JavaScript</a:t>
            </a:r>
            <a:r>
              <a:rPr lang="en-US" sz="2000" dirty="0"/>
              <a:t> files, and sends back the fully rendered HTML to the client as a response. This file includes initial content, fetched data, and React component markup, making the client render it immediately without waiting for JavaScript to download and execute.</a:t>
            </a:r>
            <a:endParaRPr lang="en-US" sz="2000" b="1" dirty="0">
              <a:solidFill>
                <a:schemeClr val="tx2">
                  <a:lumMod val="90000"/>
                  <a:lumOff val="1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5657818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79854E6-274A-FF60-541A-53A161C002E9}"/>
              </a:ext>
            </a:extLst>
          </p:cNvPr>
          <p:cNvSpPr>
            <a:spLocks noGrp="1"/>
          </p:cNvSpPr>
          <p:nvPr>
            <p:ph type="title"/>
          </p:nvPr>
        </p:nvSpPr>
        <p:spPr/>
        <p:txBody>
          <a:bodyPr/>
          <a:lstStyle/>
          <a:p>
            <a:r>
              <a:rPr lang="en-US" dirty="0">
                <a:solidFill>
                  <a:schemeClr val="tx2">
                    <a:lumMod val="50000"/>
                    <a:lumOff val="50000"/>
                  </a:schemeClr>
                </a:solidFill>
                <a:latin typeface="Arial Black" panose="020B0A04020102020204" pitchFamily="34" charset="0"/>
              </a:rPr>
              <a:t>The Next.js Way - A blend of both</a:t>
            </a:r>
          </a:p>
        </p:txBody>
      </p:sp>
      <p:sp>
        <p:nvSpPr>
          <p:cNvPr id="3" name="Content Placeholder 2">
            <a:extLst>
              <a:ext uri="{FF2B5EF4-FFF2-40B4-BE49-F238E27FC236}">
                <a16:creationId xmlns="" xmlns:a16="http://schemas.microsoft.com/office/drawing/2014/main" id="{26660671-EE63-E360-45CF-52E4EB31847E}"/>
              </a:ext>
            </a:extLst>
          </p:cNvPr>
          <p:cNvSpPr>
            <a:spLocks noGrp="1"/>
          </p:cNvSpPr>
          <p:nvPr>
            <p:ph idx="1"/>
          </p:nvPr>
        </p:nvSpPr>
        <p:spPr>
          <a:xfrm>
            <a:off x="838200" y="1690688"/>
            <a:ext cx="10515600" cy="4351338"/>
          </a:xfrm>
        </p:spPr>
        <p:txBody>
          <a:bodyPr>
            <a:normAutofit fontScale="85000" lnSpcReduction="10000"/>
          </a:bodyPr>
          <a:lstStyle/>
          <a:p>
            <a:pPr marL="0" indent="0">
              <a:lnSpc>
                <a:spcPct val="150000"/>
              </a:lnSpc>
              <a:buNone/>
            </a:pPr>
            <a:r>
              <a:rPr lang="en-US" sz="2000" dirty="0"/>
              <a:t>But it doesn’t mean we don’t receive any JavaScript files. The server will still send the JavaScript code as needed for the user interaction. From here, Next.js takes over and performs client-side hydration Have you ever encountered the issue of a hydration error where the user interface doesn't match what was originally rendered on the server? Well, this is what it is about. Hydration is attaching JavaScript event handlers and interactivity to the pre-rendered HTML. And when the placeholders of React </a:t>
            </a:r>
            <a:r>
              <a:rPr lang="en-US" sz="2000" dirty="0" smtClean="0"/>
              <a:t>components don’t </a:t>
            </a:r>
            <a:r>
              <a:rPr lang="en-US" sz="2000" dirty="0"/>
              <a:t>match what’s being rendered on the client side, you see that error. </a:t>
            </a:r>
          </a:p>
          <a:p>
            <a:pPr marL="0" indent="0">
              <a:lnSpc>
                <a:spcPct val="150000"/>
              </a:lnSpc>
              <a:buNone/>
            </a:pPr>
            <a:r>
              <a:rPr lang="en-US" sz="2000" dirty="0"/>
              <a:t>This is what it is — The hot topic of web development ,</a:t>
            </a:r>
            <a:r>
              <a:rPr lang="en-US" sz="2000" b="1" dirty="0"/>
              <a:t>SSR</a:t>
            </a:r>
            <a:r>
              <a:rPr lang="en-US" sz="2000" dirty="0"/>
              <a:t> </a:t>
            </a:r>
            <a:r>
              <a:rPr lang="en-US" sz="2000" b="1" dirty="0">
                <a:solidFill>
                  <a:srgbClr val="7030A0"/>
                </a:solidFill>
              </a:rPr>
              <a:t>Server Side Rendering!</a:t>
            </a:r>
            <a:endParaRPr lang="en-US" sz="2000" b="1" dirty="0">
              <a:solidFill>
                <a:srgbClr val="7030A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2836050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094150-C7D6-8D74-BA0E-28BC6F1D3DF1}"/>
              </a:ext>
            </a:extLst>
          </p:cNvPr>
          <p:cNvSpPr>
            <a:spLocks noGrp="1"/>
          </p:cNvSpPr>
          <p:nvPr>
            <p:ph type="ctrTitle"/>
          </p:nvPr>
        </p:nvSpPr>
        <p:spPr/>
        <p:txBody>
          <a:bodyPr/>
          <a:lstStyle/>
          <a:p>
            <a:r>
              <a:rPr lang="en-US" dirty="0"/>
              <a:t>Create a Next.js Application</a:t>
            </a:r>
          </a:p>
        </p:txBody>
      </p:sp>
      <p:sp>
        <p:nvSpPr>
          <p:cNvPr id="3" name="Subtitle 2">
            <a:extLst>
              <a:ext uri="{FF2B5EF4-FFF2-40B4-BE49-F238E27FC236}">
                <a16:creationId xmlns="" xmlns:a16="http://schemas.microsoft.com/office/drawing/2014/main" id="{DB03AF44-BEFF-28CB-7E5B-6139447BB57C}"/>
              </a:ext>
            </a:extLst>
          </p:cNvPr>
          <p:cNvSpPr>
            <a:spLocks noGrp="1"/>
          </p:cNvSpPr>
          <p:nvPr>
            <p:ph type="subTitle" idx="1"/>
          </p:nvPr>
        </p:nvSpPr>
        <p:spPr>
          <a:xfrm>
            <a:off x="1524000" y="4002088"/>
            <a:ext cx="9144000" cy="1655762"/>
          </a:xfrm>
        </p:spPr>
        <p:txBody>
          <a:bodyPr/>
          <a:lstStyle/>
          <a:p>
            <a:r>
              <a:rPr lang="en-US" b="1" dirty="0">
                <a:solidFill>
                  <a:schemeClr val="accent2"/>
                </a:solidFill>
              </a:rPr>
              <a:t>Coding Time!</a:t>
            </a:r>
          </a:p>
        </p:txBody>
      </p:sp>
    </p:spTree>
    <p:extLst>
      <p:ext uri="{BB962C8B-B14F-4D97-AF65-F5344CB8AC3E}">
        <p14:creationId xmlns:p14="http://schemas.microsoft.com/office/powerpoint/2010/main" val="328445438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54440" y="256840"/>
            <a:ext cx="7283116" cy="1325563"/>
          </a:xfrm>
        </p:spPr>
        <p:txBody>
          <a:bodyPr/>
          <a:lstStyle/>
          <a:p>
            <a:pPr algn="ctr"/>
            <a:r>
              <a:rPr lang="en-US" b="1" dirty="0" err="1" smtClean="0">
                <a:solidFill>
                  <a:schemeClr val="accent1"/>
                </a:solidFill>
                <a:latin typeface="Arial Black" panose="020B0A04020102020204" pitchFamily="34" charset="0"/>
              </a:rPr>
              <a:t>TechTalks</a:t>
            </a:r>
            <a:r>
              <a:rPr lang="en-US" b="1" dirty="0" smtClean="0">
                <a:solidFill>
                  <a:schemeClr val="accent1"/>
                </a:solidFill>
                <a:latin typeface="Arial Black" panose="020B0A04020102020204" pitchFamily="34" charset="0"/>
              </a:rPr>
              <a:t> Community</a:t>
            </a:r>
            <a:endParaRPr lang="en-US" b="1" dirty="0">
              <a:solidFill>
                <a:schemeClr val="accent1"/>
              </a:solidFill>
              <a:latin typeface="Arial Black" panose="020B0A04020102020204" pitchFamily="34" charset="0"/>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52961" y="365125"/>
            <a:ext cx="5486075" cy="6858000"/>
          </a:xfrm>
          <a:prstGeom prst="rect">
            <a:avLst/>
          </a:prstGeom>
        </p:spPr>
      </p:pic>
    </p:spTree>
    <p:extLst>
      <p:ext uri="{BB962C8B-B14F-4D97-AF65-F5344CB8AC3E}">
        <p14:creationId xmlns:p14="http://schemas.microsoft.com/office/powerpoint/2010/main" val="14738265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3808</TotalTime>
  <Words>1730</Words>
  <Application>Microsoft Office PowerPoint</Application>
  <PresentationFormat>Widescreen</PresentationFormat>
  <Paragraphs>63</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Aptos</vt:lpstr>
      <vt:lpstr>Aptos Display</vt:lpstr>
      <vt:lpstr>Arial</vt:lpstr>
      <vt:lpstr>Arial Black</vt:lpstr>
      <vt:lpstr>Geist</vt:lpstr>
      <vt:lpstr>Office Theme</vt:lpstr>
      <vt:lpstr>Next.js</vt:lpstr>
      <vt:lpstr>Birth</vt:lpstr>
      <vt:lpstr>Birth</vt:lpstr>
      <vt:lpstr>Birth</vt:lpstr>
      <vt:lpstr>PowerPoint Presentation</vt:lpstr>
      <vt:lpstr>PowerPoint Presentation</vt:lpstr>
      <vt:lpstr>Birth</vt:lpstr>
      <vt:lpstr>PowerPoint Presentation</vt:lpstr>
      <vt:lpstr>But hey, where does Next.js come in the picture?</vt:lpstr>
      <vt:lpstr>PowerPoint Presentation</vt:lpstr>
      <vt:lpstr>Introduction</vt:lpstr>
      <vt:lpstr>Introduction</vt:lpstr>
      <vt:lpstr>Introduction</vt:lpstr>
      <vt:lpstr>PowerPoint Presentation</vt:lpstr>
      <vt:lpstr>Introduction</vt:lpstr>
      <vt:lpstr>Roadmap</vt:lpstr>
      <vt:lpstr>1- Web Development Fundamentals</vt:lpstr>
      <vt:lpstr>1- Web Development Fundamentals</vt:lpstr>
      <vt:lpstr>1- Web Development Fundamentals</vt:lpstr>
      <vt:lpstr>2- The Ecosystem</vt:lpstr>
      <vt:lpstr>3- React JS</vt:lpstr>
      <vt:lpstr>4- Backend</vt:lpstr>
      <vt:lpstr>5- The Next.js</vt:lpstr>
      <vt:lpstr>How it works</vt:lpstr>
      <vt:lpstr>The vanilla — HTML, CSS, and JavaScript</vt:lpstr>
      <vt:lpstr>How it works</vt:lpstr>
      <vt:lpstr>The React way</vt:lpstr>
      <vt:lpstr>The React way</vt:lpstr>
      <vt:lpstr>What’s the catch?</vt:lpstr>
      <vt:lpstr>The Next.js Way - A blend of both</vt:lpstr>
      <vt:lpstr>The Next.js Way - A blend of both</vt:lpstr>
      <vt:lpstr>Create a Next.js Application</vt:lpstr>
      <vt:lpstr>TechTalks Community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Next.js</dc:title>
  <dc:creator>Khaled Frayji</dc:creator>
  <cp:lastModifiedBy>Microsoft account</cp:lastModifiedBy>
  <cp:revision>24</cp:revision>
  <dcterms:created xsi:type="dcterms:W3CDTF">2026-02-24T19:08:41Z</dcterms:created>
  <dcterms:modified xsi:type="dcterms:W3CDTF">2026-03-04T21:15:24Z</dcterms:modified>
</cp:coreProperties>
</file>